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70" r:id="rId3"/>
    <p:sldId id="268" r:id="rId4"/>
    <p:sldId id="269" r:id="rId5"/>
    <p:sldId id="259" r:id="rId6"/>
    <p:sldId id="261" r:id="rId7"/>
    <p:sldId id="272" r:id="rId8"/>
    <p:sldId id="273" r:id="rId9"/>
    <p:sldId id="258" r:id="rId10"/>
    <p:sldId id="263" r:id="rId11"/>
    <p:sldId id="275" r:id="rId12"/>
    <p:sldId id="276" r:id="rId13"/>
    <p:sldId id="278" r:id="rId14"/>
    <p:sldId id="274" r:id="rId15"/>
    <p:sldId id="271" r:id="rId16"/>
    <p:sldId id="277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753"/>
    <p:restoredTop sz="94719"/>
  </p:normalViewPr>
  <p:slideViewPr>
    <p:cSldViewPr snapToGrid="0" snapToObjects="1">
      <p:cViewPr>
        <p:scale>
          <a:sx n="120" d="100"/>
          <a:sy n="120" d="100"/>
        </p:scale>
        <p:origin x="2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CA9F8E-B731-1F41-B14B-DAD304D0450F}" type="datetimeFigureOut">
              <a:rPr lang="it-IT" smtClean="0"/>
              <a:t>16/06/26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3B9327-D0A7-5649-A45A-B67BEC17EDD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0519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2262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39343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065012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177898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57075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00297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3318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48469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05030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98509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08686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3B9327-D0A7-5649-A45A-B67BEC17EDDD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7933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LenionK/dl26-projects/tree/main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s.stanford.edu/people/dorarad/gqa/about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cs.stanford.edu/people/dorarad/gqa/about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489BDE29-E414-C8C6-931B-53586D4C8090}"/>
              </a:ext>
            </a:extLst>
          </p:cNvPr>
          <p:cNvSpPr/>
          <p:nvPr/>
        </p:nvSpPr>
        <p:spPr>
          <a:xfrm>
            <a:off x="-69271" y="1085445"/>
            <a:ext cx="9268691" cy="274523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extBox 1"/>
          <p:cNvSpPr txBox="1"/>
          <p:nvPr/>
        </p:nvSpPr>
        <p:spPr>
          <a:xfrm>
            <a:off x="533754" y="1578401"/>
            <a:ext cx="79244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09688"/>
                </a:solidFill>
              </a:defRPr>
            </a:pPr>
            <a:r>
              <a:rPr sz="20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Deep Learning: Advanced Models and Methods (DL26)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754" y="2115284"/>
            <a:ext cx="80673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rPr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Track 3: Graph-bas</a:t>
            </a:r>
            <a:r>
              <a:rPr lang="it-IT"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e</a:t>
            </a:r>
            <a:r>
              <a:rPr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d Metric Learning</a:t>
            </a:r>
            <a:br>
              <a:rPr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</a:br>
            <a:r>
              <a:rPr sz="36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for Scene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8068" y="5110835"/>
            <a:ext cx="3068212" cy="9848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cs typeface="Times New Roman" panose="02020603050405020304" pitchFamily="18" charset="0"/>
              </a:rPr>
              <a:t>Gruppo: G18</a:t>
            </a:r>
          </a:p>
          <a:p>
            <a:pPr>
              <a:spcAft>
                <a:spcPts val="600"/>
              </a:spcAft>
              <a:defRPr sz="1400" b="0">
                <a:solidFill>
                  <a:srgbClr val="009688"/>
                </a:solidFill>
              </a:defRPr>
            </a:pPr>
            <a:r>
              <a:rPr sz="1600" dirty="0" err="1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Membri</a:t>
            </a:r>
            <a:r>
              <a:rPr sz="1600"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: [</a:t>
            </a:r>
            <a:r>
              <a:rPr lang="it-IT" sz="1600"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Salvatore Mario Carota</a:t>
            </a:r>
            <a:r>
              <a:rPr sz="1600"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]</a:t>
            </a:r>
          </a:p>
          <a:p>
            <a:pPr>
              <a:spcAft>
                <a:spcPts val="600"/>
              </a:spcAft>
              <a:defRPr sz="1400" b="0">
                <a:solidFill>
                  <a:srgbClr val="009688"/>
                </a:solidFill>
              </a:defRPr>
            </a:pPr>
            <a:endParaRPr sz="1600" dirty="0">
              <a:solidFill>
                <a:schemeClr val="accent2">
                  <a:lumMod val="5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B0D7217-19E0-A08C-E188-6AAA68F88C3F}"/>
              </a:ext>
            </a:extLst>
          </p:cNvPr>
          <p:cNvSpPr txBox="1"/>
          <p:nvPr/>
        </p:nvSpPr>
        <p:spPr>
          <a:xfrm>
            <a:off x="4728310" y="5110835"/>
            <a:ext cx="406249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</a:defRPr>
            </a:pPr>
            <a:r>
              <a:rPr lang="it-IT" dirty="0">
                <a:solidFill>
                  <a:schemeClr val="accent2">
                    <a:lumMod val="5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Repository:</a:t>
            </a:r>
          </a:p>
          <a:p>
            <a:pPr>
              <a:spcAft>
                <a:spcPts val="600"/>
              </a:spcAft>
              <a:defRPr sz="1400" b="0">
                <a:solidFill>
                  <a:srgbClr val="009688"/>
                </a:solidFill>
              </a:defRPr>
            </a:pPr>
            <a:r>
              <a:rPr lang="it-IT" sz="16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https://</a:t>
            </a:r>
            <a:r>
              <a:rPr lang="it-IT" sz="1600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github.com</a:t>
            </a:r>
            <a:r>
              <a:rPr lang="it-IT" sz="16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/</a:t>
            </a:r>
            <a:r>
              <a:rPr lang="it-IT" sz="1600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LenionK</a:t>
            </a:r>
            <a:r>
              <a:rPr lang="it-IT" sz="1600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  <a:hlinkClick r:id="rId2"/>
              </a:rPr>
              <a:t>/dl26-projects</a:t>
            </a:r>
            <a:endParaRPr lang="it-IT" sz="1600"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CC0D53EF-2C28-A3C2-24DF-CDB7399A065C}"/>
              </a:ext>
            </a:extLst>
          </p:cNvPr>
          <p:cNvSpPr/>
          <p:nvPr/>
        </p:nvSpPr>
        <p:spPr>
          <a:xfrm>
            <a:off x="4609070" y="5055932"/>
            <a:ext cx="119240" cy="77152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526B215B-B528-6C15-C694-667FDBE739E9}"/>
              </a:ext>
            </a:extLst>
          </p:cNvPr>
          <p:cNvSpPr/>
          <p:nvPr/>
        </p:nvSpPr>
        <p:spPr>
          <a:xfrm>
            <a:off x="628828" y="5055932"/>
            <a:ext cx="119240" cy="77152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tangolo 24">
            <a:extLst>
              <a:ext uri="{FF2B5EF4-FFF2-40B4-BE49-F238E27FC236}">
                <a16:creationId xmlns:a16="http://schemas.microsoft.com/office/drawing/2014/main" id="{1F65F8C9-D575-353F-9958-46E40B9B984A}"/>
              </a:ext>
            </a:extLst>
          </p:cNvPr>
          <p:cNvSpPr/>
          <p:nvPr/>
        </p:nvSpPr>
        <p:spPr>
          <a:xfrm>
            <a:off x="1685001" y="4655895"/>
            <a:ext cx="5954340" cy="17872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0C32AFC2-D244-23DC-6D94-2F7CCB4A91D4}"/>
              </a:ext>
            </a:extLst>
          </p:cNvPr>
          <p:cNvSpPr/>
          <p:nvPr/>
        </p:nvSpPr>
        <p:spPr>
          <a:xfrm>
            <a:off x="1666297" y="2202105"/>
            <a:ext cx="5954340" cy="178723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CA083CF-505F-7DBF-E1A7-B91F9EEF519C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333589"/>
            <a:ext cx="8229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200" dirty="0" err="1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Graph-based</a:t>
            </a:r>
            <a:r>
              <a:rPr lang="it-IT" sz="32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 </a:t>
            </a:r>
            <a:r>
              <a:rPr lang="it-IT" sz="3200" dirty="0" err="1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Metric</a:t>
            </a:r>
            <a:r>
              <a:rPr lang="it-IT" sz="32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 Learning</a:t>
            </a:r>
            <a:br>
              <a:rPr lang="it-IT" sz="32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</a:br>
            <a:r>
              <a:rPr lang="it-IT" sz="3200" dirty="0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for Scene </a:t>
            </a:r>
            <a:r>
              <a:rPr lang="it-IT" sz="3200" dirty="0" err="1">
                <a:latin typeface="Times New Roman" panose="02020603050405020304" pitchFamily="18" charset="0"/>
                <a:ea typeface="AppleMyungjo" pitchFamily="2" charset="-127"/>
                <a:cs typeface="Times New Roman" panose="02020603050405020304" pitchFamily="18" charset="0"/>
              </a:rPr>
              <a:t>Understanding</a:t>
            </a:r>
            <a:endParaRPr lang="it-IT" sz="3000"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8E841AE0-6D0C-81A6-4FF0-97C19AF14B66}"/>
              </a:ext>
            </a:extLst>
          </p:cNvPr>
          <p:cNvSpPr/>
          <p:nvPr/>
        </p:nvSpPr>
        <p:spPr>
          <a:xfrm>
            <a:off x="1926936" y="2497124"/>
            <a:ext cx="1262380" cy="11938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Immagini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195A43F1-E6D5-91EC-72D6-F50D0303B751}"/>
              </a:ext>
            </a:extLst>
          </p:cNvPr>
          <p:cNvSpPr/>
          <p:nvPr/>
        </p:nvSpPr>
        <p:spPr>
          <a:xfrm>
            <a:off x="4012277" y="2497124"/>
            <a:ext cx="1262380" cy="11938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CNN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2A0E635A-59E5-8819-0F05-4612F1C20BFC}"/>
              </a:ext>
            </a:extLst>
          </p:cNvPr>
          <p:cNvSpPr/>
          <p:nvPr/>
        </p:nvSpPr>
        <p:spPr>
          <a:xfrm>
            <a:off x="6097618" y="2497124"/>
            <a:ext cx="1262380" cy="11938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Embending</a:t>
            </a:r>
            <a:endParaRPr lang="it-IT" dirty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C3AACDEC-9A0E-1536-4E88-A5EE164B4F46}"/>
              </a:ext>
            </a:extLst>
          </p:cNvPr>
          <p:cNvSpPr/>
          <p:nvPr/>
        </p:nvSpPr>
        <p:spPr>
          <a:xfrm>
            <a:off x="1926936" y="5000977"/>
            <a:ext cx="1262380" cy="11938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Grafi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7F046D4-CF13-589C-BD80-B472FEE5674F}"/>
              </a:ext>
            </a:extLst>
          </p:cNvPr>
          <p:cNvSpPr/>
          <p:nvPr/>
        </p:nvSpPr>
        <p:spPr>
          <a:xfrm>
            <a:off x="4012277" y="5000977"/>
            <a:ext cx="1262380" cy="11938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GNN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6D196D83-434F-7EE0-683F-D4E6EACEAE9E}"/>
              </a:ext>
            </a:extLst>
          </p:cNvPr>
          <p:cNvSpPr/>
          <p:nvPr/>
        </p:nvSpPr>
        <p:spPr>
          <a:xfrm>
            <a:off x="6097618" y="5000977"/>
            <a:ext cx="1262380" cy="11938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Embending</a:t>
            </a:r>
            <a:endParaRPr lang="it-IT" dirty="0"/>
          </a:p>
        </p:txBody>
      </p:sp>
      <p:sp>
        <p:nvSpPr>
          <p:cNvPr id="18" name="Freccia destra 17">
            <a:extLst>
              <a:ext uri="{FF2B5EF4-FFF2-40B4-BE49-F238E27FC236}">
                <a16:creationId xmlns:a16="http://schemas.microsoft.com/office/drawing/2014/main" id="{98A4F422-06D4-4D26-DD88-7BDEEE4E13F6}"/>
              </a:ext>
            </a:extLst>
          </p:cNvPr>
          <p:cNvSpPr/>
          <p:nvPr/>
        </p:nvSpPr>
        <p:spPr>
          <a:xfrm>
            <a:off x="3427442" y="2941624"/>
            <a:ext cx="342900" cy="355600"/>
          </a:xfrm>
          <a:prstGeom prst="rightArrow">
            <a:avLst/>
          </a:prstGeom>
          <a:solidFill>
            <a:schemeClr val="tx1"/>
          </a:solidFill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1" name="Freccia destra 20">
            <a:extLst>
              <a:ext uri="{FF2B5EF4-FFF2-40B4-BE49-F238E27FC236}">
                <a16:creationId xmlns:a16="http://schemas.microsoft.com/office/drawing/2014/main" id="{EAC5816D-11B6-3DD0-B643-D77947DB8EA4}"/>
              </a:ext>
            </a:extLst>
          </p:cNvPr>
          <p:cNvSpPr/>
          <p:nvPr/>
        </p:nvSpPr>
        <p:spPr>
          <a:xfrm>
            <a:off x="5514687" y="2916224"/>
            <a:ext cx="342900" cy="355600"/>
          </a:xfrm>
          <a:prstGeom prst="rightArrow">
            <a:avLst/>
          </a:prstGeom>
          <a:solidFill>
            <a:schemeClr val="tx1"/>
          </a:solidFill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2" name="Freccia destra 21">
            <a:extLst>
              <a:ext uri="{FF2B5EF4-FFF2-40B4-BE49-F238E27FC236}">
                <a16:creationId xmlns:a16="http://schemas.microsoft.com/office/drawing/2014/main" id="{8E8CCED3-20C3-7583-F546-8534403F0556}"/>
              </a:ext>
            </a:extLst>
          </p:cNvPr>
          <p:cNvSpPr/>
          <p:nvPr/>
        </p:nvSpPr>
        <p:spPr>
          <a:xfrm>
            <a:off x="3429346" y="5420077"/>
            <a:ext cx="342900" cy="355600"/>
          </a:xfrm>
          <a:prstGeom prst="rightArrow">
            <a:avLst/>
          </a:prstGeom>
          <a:solidFill>
            <a:schemeClr val="tx1"/>
          </a:solidFill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Freccia destra 22">
            <a:extLst>
              <a:ext uri="{FF2B5EF4-FFF2-40B4-BE49-F238E27FC236}">
                <a16:creationId xmlns:a16="http://schemas.microsoft.com/office/drawing/2014/main" id="{DCB9C463-58C2-3DFD-68C8-429A563855DD}"/>
              </a:ext>
            </a:extLst>
          </p:cNvPr>
          <p:cNvSpPr/>
          <p:nvPr/>
        </p:nvSpPr>
        <p:spPr>
          <a:xfrm>
            <a:off x="5514687" y="5434252"/>
            <a:ext cx="342900" cy="355600"/>
          </a:xfrm>
          <a:prstGeom prst="rightArrow">
            <a:avLst/>
          </a:prstGeom>
          <a:solidFill>
            <a:schemeClr val="tx1"/>
          </a:solidFill>
          <a:effectLst>
            <a:outerShdw dist="23000"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54B6B7ED-C492-3232-5F53-515104596E49}"/>
              </a:ext>
            </a:extLst>
          </p:cNvPr>
          <p:cNvSpPr txBox="1"/>
          <p:nvPr/>
        </p:nvSpPr>
        <p:spPr>
          <a:xfrm>
            <a:off x="1563667" y="4312008"/>
            <a:ext cx="16408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i="0" u="none" strike="noStrike" dirty="0" err="1">
                <a:effectLst/>
                <a:latin typeface="Mona Sans VF"/>
              </a:rPr>
              <a:t>Graph</a:t>
            </a:r>
            <a:r>
              <a:rPr lang="it-IT" b="1" i="0" u="none" strike="noStrike" dirty="0">
                <a:effectLst/>
                <a:latin typeface="Mona Sans VF"/>
              </a:rPr>
              <a:t> Encoder</a:t>
            </a:r>
            <a:endParaRPr lang="it-IT" dirty="0"/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6CD10F04-DF07-D6FD-F450-0B666A32B69D}"/>
              </a:ext>
            </a:extLst>
          </p:cNvPr>
          <p:cNvSpPr txBox="1"/>
          <p:nvPr/>
        </p:nvSpPr>
        <p:spPr>
          <a:xfrm>
            <a:off x="1563667" y="1879438"/>
            <a:ext cx="10148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i="0" u="none" strike="noStrike" dirty="0">
                <a:effectLst/>
                <a:latin typeface="Mona Sans VF"/>
              </a:rPr>
              <a:t>Baseline</a:t>
            </a: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130534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D0934DA-CB1E-F197-7F97-ACDDBAC4D890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199" y="578068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b="1" i="0" u="none" strike="noStrike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GQA: Visual Reasoning in the Real World</a:t>
            </a:r>
            <a:endParaRPr lang="it-IT" sz="3000" b="1" i="0" u="none" strike="noStrike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DF689D21-051B-B69C-1CB5-FD6E0C9D7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425" y="2377441"/>
            <a:ext cx="8723149" cy="3442424"/>
          </a:xfrm>
          <a:prstGeom prst="rect">
            <a:avLst/>
          </a:prstGeom>
        </p:spPr>
      </p:pic>
      <p:sp>
        <p:nvSpPr>
          <p:cNvPr id="10" name="TextBox 5">
            <a:extLst>
              <a:ext uri="{FF2B5EF4-FFF2-40B4-BE49-F238E27FC236}">
                <a16:creationId xmlns:a16="http://schemas.microsoft.com/office/drawing/2014/main" id="{97E41CED-EEE5-6309-D795-475AB25C2602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4062410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7ABCEF75-AFFD-FFE2-BD66-5BC7938B662F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578068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b="1" i="0" u="none" strike="noStrike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GQA: Visual Reasoning in the Real World</a:t>
            </a:r>
            <a:endParaRPr lang="it-IT" sz="3000" b="1" i="0" u="none" strike="noStrike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5" name="Immagine 4" descr="Immagine che contiene testo, arredo, tavolo, sedia&#10;&#10;Descrizione generata automaticamente">
            <a:extLst>
              <a:ext uri="{FF2B5EF4-FFF2-40B4-BE49-F238E27FC236}">
                <a16:creationId xmlns:a16="http://schemas.microsoft.com/office/drawing/2014/main" id="{99BB0A11-250E-C20C-C7B3-C1700B6C754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9155" b="-1713"/>
          <a:stretch/>
        </p:blipFill>
        <p:spPr>
          <a:xfrm>
            <a:off x="731520" y="2272580"/>
            <a:ext cx="7772400" cy="3924000"/>
          </a:xfrm>
          <a:prstGeom prst="rect">
            <a:avLst/>
          </a:prstGeom>
        </p:spPr>
      </p:pic>
      <p:sp>
        <p:nvSpPr>
          <p:cNvPr id="8" name="TextBox 5">
            <a:extLst>
              <a:ext uri="{FF2B5EF4-FFF2-40B4-BE49-F238E27FC236}">
                <a16:creationId xmlns:a16="http://schemas.microsoft.com/office/drawing/2014/main" id="{D14466C4-9C82-6B18-3923-6ECB52F18C13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1909455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ttangolo 11">
            <a:extLst>
              <a:ext uri="{FF2B5EF4-FFF2-40B4-BE49-F238E27FC236}">
                <a16:creationId xmlns:a16="http://schemas.microsoft.com/office/drawing/2014/main" id="{6E7C60D0-BE8A-1E28-1873-AB36FB1F9B4D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8" name="Immagine 7" descr="Immagine che contiene testo, schermata, Diagramma, linea&#10;&#10;Descrizione generata automaticamente">
            <a:extLst>
              <a:ext uri="{FF2B5EF4-FFF2-40B4-BE49-F238E27FC236}">
                <a16:creationId xmlns:a16="http://schemas.microsoft.com/office/drawing/2014/main" id="{9885B957-11CE-EA3F-FAC6-66448AF5AA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332" r="47084" b="2804"/>
          <a:stretch/>
        </p:blipFill>
        <p:spPr>
          <a:xfrm>
            <a:off x="2741130" y="2212028"/>
            <a:ext cx="6300000" cy="450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78068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GQA:  14 </a:t>
            </a:r>
            <a:r>
              <a:rPr sz="3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classi</a:t>
            </a:r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via CLIP</a:t>
            </a:r>
            <a:r>
              <a:rPr lang="it-IT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it-IT" sz="3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ViT</a:t>
            </a:r>
            <a:r>
              <a:rPr lang="it-IT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-B)</a:t>
            </a:r>
            <a:endParaRPr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F7887584-59F0-8EF5-B9F7-1E80FFAD6E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9070246"/>
              </p:ext>
            </p:extLst>
          </p:nvPr>
        </p:nvGraphicFramePr>
        <p:xfrm>
          <a:off x="457200" y="2288200"/>
          <a:ext cx="2031192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1192">
                  <a:extLst>
                    <a:ext uri="{9D8B030D-6E8A-4147-A177-3AD203B41FA5}">
                      <a16:colId xmlns:a16="http://schemas.microsoft.com/office/drawing/2014/main" val="34446320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it-IT" b="1" dirty="0"/>
                        <a:t>Classi di Partenza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728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Interni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861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Urbano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4772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Natura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404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Cibo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710965"/>
                  </a:ext>
                </a:extLst>
              </a:tr>
            </a:tbl>
          </a:graphicData>
        </a:graphic>
      </p:graphicFrame>
      <p:sp>
        <p:nvSpPr>
          <p:cNvPr id="13" name="TextBox 5">
            <a:extLst>
              <a:ext uri="{FF2B5EF4-FFF2-40B4-BE49-F238E27FC236}">
                <a16:creationId xmlns:a16="http://schemas.microsoft.com/office/drawing/2014/main" id="{3E61655E-8FDA-F6D2-BE57-08D052C56293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E70E964E-FA8C-4B36-C6B9-78D99B421F9E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5343131"/>
              </p:ext>
            </p:extLst>
          </p:nvPr>
        </p:nvGraphicFramePr>
        <p:xfrm>
          <a:off x="698155" y="2288200"/>
          <a:ext cx="7747685" cy="1775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8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6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96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 err="1"/>
                        <a:t>Modello</a:t>
                      </a:r>
                      <a:endParaRPr sz="1600" dirty="0"/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Input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 err="1"/>
                        <a:t>Architettura</a:t>
                      </a:r>
                      <a:endParaRPr sz="1600" dirty="0"/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Embedding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Baseline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 err="1"/>
                        <a:t>Immagine</a:t>
                      </a:r>
                      <a:endParaRPr sz="1600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ResNet-18 → FC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128-d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GCN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 err="1"/>
                        <a:t>Grafo</a:t>
                      </a:r>
                      <a:endParaRPr sz="16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3× </a:t>
                      </a:r>
                      <a:r>
                        <a:rPr sz="1600" dirty="0" err="1"/>
                        <a:t>GCNConv</a:t>
                      </a:r>
                      <a:r>
                        <a:rPr sz="1600" dirty="0"/>
                        <a:t> + pool mean/max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128-d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GINE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 err="1"/>
                        <a:t>Grafo</a:t>
                      </a:r>
                      <a:r>
                        <a:rPr sz="1600" dirty="0"/>
                        <a:t> + edge type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4× </a:t>
                      </a:r>
                      <a:r>
                        <a:rPr sz="1600" dirty="0" err="1"/>
                        <a:t>GINEConv</a:t>
                      </a:r>
                      <a:r>
                        <a:rPr sz="1600" dirty="0"/>
                        <a:t> + pool mean/max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sz="1600" dirty="0"/>
                        <a:t>128-d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457198" y="578068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Tre encoder, 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stesso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obiettivo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metrico</a:t>
            </a:r>
            <a:endParaRPr sz="3000"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EF0258E7-6672-2295-E26F-06F8E56CACB8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81796A9A-3AF4-4676-6B14-1CAC30AE86DF}"/>
              </a:ext>
            </a:extLst>
          </p:cNvPr>
          <p:cNvSpPr txBox="1"/>
          <p:nvPr/>
        </p:nvSpPr>
        <p:spPr>
          <a:xfrm>
            <a:off x="698155" y="4814499"/>
            <a:ext cx="2641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INSERIRE </a:t>
            </a:r>
            <a:r>
              <a:rPr lang="it-IT" dirty="0" err="1"/>
              <a:t>Constrastive</a:t>
            </a:r>
            <a:r>
              <a:rPr lang="it-IT" dirty="0"/>
              <a:t> </a:t>
            </a:r>
            <a:r>
              <a:rPr lang="it-IT" dirty="0" err="1"/>
              <a:t>loss</a:t>
            </a:r>
            <a:endParaRPr lang="it-IT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>
            <a:extLst>
              <a:ext uri="{FF2B5EF4-FFF2-40B4-BE49-F238E27FC236}">
                <a16:creationId xmlns:a16="http://schemas.microsoft.com/office/drawing/2014/main" id="{B11CA78E-FC80-9F0B-1D62-F978D80C0F8C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28036D07-A17B-C301-6916-B15E3738E93B}"/>
              </a:ext>
            </a:extLst>
          </p:cNvPr>
          <p:cNvSpPr txBox="1"/>
          <p:nvPr/>
        </p:nvSpPr>
        <p:spPr>
          <a:xfrm>
            <a:off x="457200" y="578068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e </a:t>
            </a:r>
            <a:r>
              <a:rPr lang="it-IT" sz="3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iperparametri</a:t>
            </a:r>
            <a:r>
              <a:rPr lang="it-IT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38044935-0DB9-6E7C-6C40-E0F77BD96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589025"/>
              </p:ext>
            </p:extLst>
          </p:nvPr>
        </p:nvGraphicFramePr>
        <p:xfrm>
          <a:off x="577679" y="2517895"/>
          <a:ext cx="7988642" cy="275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>
                  <a:extLst>
                    <a:ext uri="{9D8B030D-6E8A-4147-A177-3AD203B41FA5}">
                      <a16:colId xmlns:a16="http://schemas.microsoft.com/office/drawing/2014/main" val="3997176440"/>
                    </a:ext>
                  </a:extLst>
                </a:gridCol>
                <a:gridCol w="2987000">
                  <a:extLst>
                    <a:ext uri="{9D8B030D-6E8A-4147-A177-3AD203B41FA5}">
                      <a16:colId xmlns:a16="http://schemas.microsoft.com/office/drawing/2014/main" val="3042647182"/>
                    </a:ext>
                  </a:extLst>
                </a:gridCol>
                <a:gridCol w="3617686">
                  <a:extLst>
                    <a:ext uri="{9D8B030D-6E8A-4147-A177-3AD203B41FA5}">
                      <a16:colId xmlns:a16="http://schemas.microsoft.com/office/drawing/2014/main" val="3300564228"/>
                    </a:ext>
                  </a:extLst>
                </a:gridCol>
              </a:tblGrid>
              <a:tr h="298931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Parametro 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Baseline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GCN/GINE</a:t>
                      </a:r>
                    </a:p>
                  </a:txBody>
                  <a:tcP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15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Optimizer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 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Adam (</a:t>
                      </a:r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lr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=1°-4)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Adam (</a:t>
                      </a:r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lr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=3e-4, </a:t>
                      </a:r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weight_decay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=1e-4)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7788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Scheduler</a:t>
                      </a:r>
                      <a:endParaRPr lang="it-IT" sz="1800" dirty="0">
                        <a:latin typeface="Baskerville" panose="02020502070401020303" pitchFamily="18" charset="0"/>
                        <a:ea typeface="Baskerville" panose="02020502070401020303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-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CosineAnnealingLR</a:t>
                      </a:r>
                      <a:endParaRPr lang="it-IT" sz="1800" dirty="0">
                        <a:latin typeface="Baskerville" panose="02020502070401020303" pitchFamily="18" charset="0"/>
                        <a:ea typeface="Baskerville" panose="02020502070401020303" pitchFamily="18" charset="0"/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7891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Grad clipping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-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Max_norm</a:t>
                      </a:r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=1.0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4335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Batch sampling 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6 classi x 4 campioni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6 classi x 4 campioni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0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800" dirty="0" err="1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Epochs</a:t>
                      </a:r>
                      <a:endParaRPr lang="it-IT" sz="1800" dirty="0">
                        <a:latin typeface="Baskerville" panose="02020502070401020303" pitchFamily="18" charset="0"/>
                        <a:ea typeface="Baskerville" panose="02020502070401020303" pitchFamily="18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10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dirty="0">
                          <a:latin typeface="Baskerville" panose="02020502070401020303" pitchFamily="18" charset="0"/>
                          <a:ea typeface="Baskerville" panose="02020502070401020303" pitchFamily="18" charset="0"/>
                        </a:rPr>
                        <a:t>20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3612421"/>
                  </a:ext>
                </a:extLst>
              </a:tr>
            </a:tbl>
          </a:graphicData>
        </a:graphic>
      </p:graphicFrame>
      <p:sp>
        <p:nvSpPr>
          <p:cNvPr id="10" name="TextBox 5">
            <a:extLst>
              <a:ext uri="{FF2B5EF4-FFF2-40B4-BE49-F238E27FC236}">
                <a16:creationId xmlns:a16="http://schemas.microsoft.com/office/drawing/2014/main" id="{DC29F4CB-6783-5CF8-04BD-F1406DFB2529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1194307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18">
            <a:extLst>
              <a:ext uri="{FF2B5EF4-FFF2-40B4-BE49-F238E27FC236}">
                <a16:creationId xmlns:a16="http://schemas.microsoft.com/office/drawing/2014/main" id="{9B567F33-81DB-3BE3-F007-037FCF230204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9385676F-4E1E-CFCA-E104-754AA6856866}"/>
              </a:ext>
            </a:extLst>
          </p:cNvPr>
          <p:cNvSpPr/>
          <p:nvPr/>
        </p:nvSpPr>
        <p:spPr>
          <a:xfrm>
            <a:off x="425398" y="3053401"/>
            <a:ext cx="1597598" cy="2057400"/>
          </a:xfrm>
          <a:prstGeom prst="rect">
            <a:avLst/>
          </a:prstGeom>
          <a:noFill/>
          <a:ln w="25400">
            <a:solidFill>
              <a:schemeClr val="accent2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TextBox 2"/>
          <p:cNvSpPr txBox="1"/>
          <p:nvPr/>
        </p:nvSpPr>
        <p:spPr>
          <a:xfrm>
            <a:off x="425398" y="578068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cene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-</a:t>
            </a:r>
            <a:r>
              <a:rPr lang="it-IT" sz="3000" dirty="0">
                <a:latin typeface="Baskerville" panose="02020502070401020303" pitchFamily="18" charset="0"/>
                <a:ea typeface="Baskerville" panose="02020502070401020303" pitchFamily="18" charset="0"/>
              </a:rPr>
              <a:t>T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o-</a:t>
            </a: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cene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retrieval con metric learning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A41B4D41-1343-2811-CF13-464DE20B46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647" t="10436" r="34488"/>
          <a:stretch/>
        </p:blipFill>
        <p:spPr>
          <a:xfrm>
            <a:off x="2566219" y="4575717"/>
            <a:ext cx="5466142" cy="160073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37622D72-7464-E442-760B-B75B6ACC1B3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647" t="10161" r="32958"/>
          <a:stretch/>
        </p:blipFill>
        <p:spPr>
          <a:xfrm>
            <a:off x="2566220" y="2266323"/>
            <a:ext cx="5554980" cy="1600731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B16BF712-EAA7-67F0-D037-486D5E2ECF6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49" t="30361" r="90572" b="3543"/>
          <a:stretch/>
        </p:blipFill>
        <p:spPr>
          <a:xfrm>
            <a:off x="540197" y="3200101"/>
            <a:ext cx="1368000" cy="1764000"/>
          </a:xfrm>
          <a:prstGeom prst="rect">
            <a:avLst/>
          </a:prstGeom>
          <a:ln w="0">
            <a:noFill/>
          </a:ln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86B7A1C-E2FC-166F-BEF2-B2AFBA3BC8EE}"/>
              </a:ext>
            </a:extLst>
          </p:cNvPr>
          <p:cNvSpPr txBox="1"/>
          <p:nvPr/>
        </p:nvSpPr>
        <p:spPr>
          <a:xfrm>
            <a:off x="2465203" y="4303188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latin typeface="Baskerville" panose="02020502070401020303" pitchFamily="18" charset="0"/>
                <a:ea typeface="Baskerville" panose="02020502070401020303" pitchFamily="18" charset="0"/>
              </a:rPr>
              <a:t>GCN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396C517-0497-3C40-82DF-4BB691B42B8F}"/>
              </a:ext>
            </a:extLst>
          </p:cNvPr>
          <p:cNvSpPr txBox="1"/>
          <p:nvPr/>
        </p:nvSpPr>
        <p:spPr>
          <a:xfrm>
            <a:off x="2466806" y="2018394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latin typeface="Baskerville" panose="02020502070401020303" pitchFamily="18" charset="0"/>
                <a:ea typeface="Baskerville" panose="02020502070401020303" pitchFamily="18" charset="0"/>
              </a:rPr>
              <a:t>CNN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C8901E7-A787-2426-66E4-41231BC18713}"/>
              </a:ext>
            </a:extLst>
          </p:cNvPr>
          <p:cNvSpPr txBox="1"/>
          <p:nvPr/>
        </p:nvSpPr>
        <p:spPr>
          <a:xfrm>
            <a:off x="640374" y="2610719"/>
            <a:ext cx="1021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latin typeface="Baskerville" panose="02020502070401020303" pitchFamily="18" charset="0"/>
                <a:ea typeface="Baskerville" panose="02020502070401020303" pitchFamily="18" charset="0"/>
              </a:rPr>
              <a:t>QUERY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A02A8636-1F7B-AFC7-E4BF-007BF2B69C5D}"/>
              </a:ext>
            </a:extLst>
          </p:cNvPr>
          <p:cNvSpPr/>
          <p:nvPr/>
        </p:nvSpPr>
        <p:spPr>
          <a:xfrm>
            <a:off x="2566219" y="4634020"/>
            <a:ext cx="5554981" cy="1600731"/>
          </a:xfrm>
          <a:prstGeom prst="rect">
            <a:avLst/>
          </a:prstGeom>
          <a:noFill/>
          <a:ln w="25400">
            <a:solidFill>
              <a:schemeClr val="accent2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A3E8E51A-DC0E-2F62-3FDE-3BB978E5A7E3}"/>
              </a:ext>
            </a:extLst>
          </p:cNvPr>
          <p:cNvSpPr/>
          <p:nvPr/>
        </p:nvSpPr>
        <p:spPr>
          <a:xfrm>
            <a:off x="2566219" y="2373996"/>
            <a:ext cx="5554981" cy="1600731"/>
          </a:xfrm>
          <a:prstGeom prst="rect">
            <a:avLst/>
          </a:prstGeom>
          <a:noFill/>
          <a:ln w="25400">
            <a:solidFill>
              <a:schemeClr val="accent2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0" name="TextBox 5">
            <a:extLst>
              <a:ext uri="{FF2B5EF4-FFF2-40B4-BE49-F238E27FC236}">
                <a16:creationId xmlns:a16="http://schemas.microsoft.com/office/drawing/2014/main" id="{317E21BE-A708-A214-C59B-B6523FD2C487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3040859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FFD0B600-EFDB-0E67-E85C-E6BF7FC1E2B1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7" name="Immagine 6" descr="Immagine che contiene testo, schermata, diagramma, Diagramma&#10;&#10;Descrizione generata automaticamente">
            <a:extLst>
              <a:ext uri="{FF2B5EF4-FFF2-40B4-BE49-F238E27FC236}">
                <a16:creationId xmlns:a16="http://schemas.microsoft.com/office/drawing/2014/main" id="{7AF92A3C-6AE4-0DC3-D77F-25B7C65E9D6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877" b="3152"/>
          <a:stretch/>
        </p:blipFill>
        <p:spPr>
          <a:xfrm>
            <a:off x="59957" y="1834089"/>
            <a:ext cx="9024086" cy="4834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2910" y="578068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cene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-</a:t>
            </a:r>
            <a:r>
              <a:rPr lang="it-IT" sz="3000" dirty="0">
                <a:latin typeface="Baskerville" panose="02020502070401020303" pitchFamily="18" charset="0"/>
                <a:ea typeface="Baskerville" panose="02020502070401020303" pitchFamily="18" charset="0"/>
              </a:rPr>
              <a:t>T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o-</a:t>
            </a: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S</a:t>
            </a:r>
            <a:r>
              <a:rPr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cene</a:t>
            </a:r>
            <a:r>
              <a:rPr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retrieval con metric learning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96DB7037-0748-7255-B680-2A70C7336CA2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20136"/>
            <a:ext cx="82296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GNN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degrada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gradualmente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anche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con il 70%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dei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nodi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rimossi</a:t>
            </a:r>
            <a:endParaRPr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099160"/>
            <a:ext cx="425411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robustezza</a:t>
            </a: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alle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perturbazioni</a:t>
            </a: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strutturali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BD11E3E-FD66-0E82-020E-6DA8C331396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2875" r="50000"/>
          <a:stretch/>
        </p:blipFill>
        <p:spPr>
          <a:xfrm>
            <a:off x="897648" y="2025219"/>
            <a:ext cx="7348703" cy="4570624"/>
          </a:xfrm>
          <a:prstGeom prst="rect">
            <a:avLst/>
          </a:prstGeom>
        </p:spPr>
      </p:pic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0FAABC04-C21D-B1AD-F4A9-E2693B7337E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3235"/>
          <a:stretch/>
        </p:blipFill>
        <p:spPr>
          <a:xfrm>
            <a:off x="188390" y="1710133"/>
            <a:ext cx="8797916" cy="5065490"/>
          </a:xfrm>
          <a:prstGeom prst="rect">
            <a:avLst/>
          </a:prstGeom>
        </p:spPr>
      </p:pic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80247"/>
            <a:ext cx="8229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GRADCAM</a:t>
            </a:r>
            <a:endParaRPr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55067"/>
            <a:ext cx="47277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Visualize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and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interpret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which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edges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/relations </a:t>
            </a:r>
          </a:p>
          <a:p>
            <a:pPr>
              <a:defRPr sz="1400">
                <a:solidFill>
                  <a:srgbClr val="009688"/>
                </a:solidFill>
              </a:defRPr>
            </a:pP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act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critical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points for the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model's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similarity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metric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.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3241528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3475476C-01EF-2801-B13A-B3968D3C067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887" r="48372" b="63837"/>
          <a:stretch/>
        </p:blipFill>
        <p:spPr>
          <a:xfrm>
            <a:off x="228600" y="1685977"/>
            <a:ext cx="8686800" cy="4817345"/>
          </a:xfrm>
          <a:prstGeom prst="rect">
            <a:avLst/>
          </a:prstGeom>
        </p:spPr>
      </p:pic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80247"/>
            <a:ext cx="8229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GRAPHGRADCAM</a:t>
            </a:r>
            <a:endParaRPr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55067"/>
            <a:ext cx="47277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Visualize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and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interpret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which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edges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/relations </a:t>
            </a:r>
          </a:p>
          <a:p>
            <a:pPr>
              <a:defRPr sz="1400">
                <a:solidFill>
                  <a:srgbClr val="009688"/>
                </a:solidFill>
              </a:defRPr>
            </a:pP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act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critical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points for the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model's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similarity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metric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.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1353906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80247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sz="3000" dirty="0" err="1"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sz="3000" dirty="0">
                <a:latin typeface="Baskerville" panose="02020502070401020303" pitchFamily="18" charset="0"/>
                <a:ea typeface="Baskerville" panose="02020502070401020303" pitchFamily="18" charset="0"/>
              </a:rPr>
              <a:t> Point Analysis — Ranking Disruption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55067"/>
            <a:ext cx="47277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Visualize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and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interpret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which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edges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/relations </a:t>
            </a:r>
          </a:p>
          <a:p>
            <a:pPr>
              <a:defRPr sz="1400">
                <a:solidFill>
                  <a:srgbClr val="009688"/>
                </a:solidFill>
              </a:defRPr>
            </a:pP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act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critical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points for the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model's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similarity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metric</a:t>
            </a:r>
            <a:r>
              <a:rPr lang="it-IT"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.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5FFAD51-F4FE-92D7-019D-B0DED7CF3257}"/>
              </a:ext>
            </a:extLst>
          </p:cNvPr>
          <p:cNvSpPr txBox="1"/>
          <p:nvPr/>
        </p:nvSpPr>
        <p:spPr>
          <a:xfrm>
            <a:off x="3835804" y="4007067"/>
            <a:ext cx="1472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Rifare grafico </a:t>
            </a:r>
          </a:p>
        </p:txBody>
      </p:sp>
    </p:spTree>
    <p:extLst>
      <p:ext uri="{BB962C8B-B14F-4D97-AF65-F5344CB8AC3E}">
        <p14:creationId xmlns:p14="http://schemas.microsoft.com/office/powerpoint/2010/main" val="38055703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20136"/>
            <a:ext cx="82296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GNN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degrada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gradualmente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anche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con il 70%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dei</a:t>
            </a:r>
            <a:r>
              <a:rPr dirty="0">
                <a:latin typeface="Baskerville" panose="02020502070401020303" pitchFamily="18" charset="0"/>
                <a:ea typeface="Baskerville" panose="02020502070401020303" pitchFamily="18" charset="0"/>
              </a:rPr>
              <a:t> nodi </a:t>
            </a:r>
            <a:r>
              <a:rPr dirty="0" err="1">
                <a:latin typeface="Baskerville" panose="02020502070401020303" pitchFamily="18" charset="0"/>
                <a:ea typeface="Baskerville" panose="02020502070401020303" pitchFamily="18" charset="0"/>
              </a:rPr>
              <a:t>rimossi</a:t>
            </a:r>
            <a:endParaRPr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099160"/>
            <a:ext cx="425411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robustezza</a:t>
            </a: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alle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perturbazioni</a:t>
            </a:r>
            <a:r>
              <a:rPr dirty="0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dirty="0" err="1">
                <a:solidFill>
                  <a:schemeClr val="accent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strutturali</a:t>
            </a:r>
            <a:endParaRPr dirty="0">
              <a:solidFill>
                <a:schemeClr val="accent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BD11E3E-FD66-0E82-020E-6DA8C331396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000" t="13373"/>
          <a:stretch/>
        </p:blipFill>
        <p:spPr>
          <a:xfrm>
            <a:off x="979161" y="1977390"/>
            <a:ext cx="7464303" cy="4615934"/>
          </a:xfrm>
          <a:prstGeom prst="rect">
            <a:avLst/>
          </a:prstGeom>
        </p:spPr>
      </p:pic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1096198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/>
              <a:t>[Backup Q&amp;A]  Il task: scene-to-scene </a:t>
            </a:r>
            <a:r>
              <a:rPr lang="it-IT" dirty="0" err="1"/>
              <a:t>retrieval</a:t>
            </a:r>
            <a:r>
              <a:rPr lang="it-IT" dirty="0"/>
              <a:t> con </a:t>
            </a:r>
            <a:r>
              <a:rPr lang="it-IT" dirty="0" err="1"/>
              <a:t>metric</a:t>
            </a:r>
            <a:r>
              <a:rPr lang="it-IT" dirty="0"/>
              <a:t> learning</a:t>
            </a:r>
          </a:p>
        </p:txBody>
      </p:sp>
      <p:pic>
        <p:nvPicPr>
          <p:cNvPr id="6" name="Immagine 5" descr="Immagine che contiene testo, schermata, diagramma, numero&#10;&#10;Descrizione generata automaticamente">
            <a:extLst>
              <a:ext uri="{FF2B5EF4-FFF2-40B4-BE49-F238E27FC236}">
                <a16:creationId xmlns:a16="http://schemas.microsoft.com/office/drawing/2014/main" id="{01F7F839-7C8F-0DD0-DF6D-7ED6F4C71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772400" cy="4663440"/>
          </a:xfrm>
          <a:prstGeom prst="rect">
            <a:avLst/>
          </a:prstGeom>
        </p:spPr>
      </p:pic>
      <p:sp>
        <p:nvSpPr>
          <p:cNvPr id="8" name="TextBox 5">
            <a:extLst>
              <a:ext uri="{FF2B5EF4-FFF2-40B4-BE49-F238E27FC236}">
                <a16:creationId xmlns:a16="http://schemas.microsoft.com/office/drawing/2014/main" id="{295C996B-0D8E-5718-7385-7B300932344D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  <p:extLst>
      <p:ext uri="{BB962C8B-B14F-4D97-AF65-F5344CB8AC3E}">
        <p14:creationId xmlns:p14="http://schemas.microsoft.com/office/powerpoint/2010/main" val="6202390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5714BD5A-94AF-DA58-BFC6-BE92236FECC5}"/>
              </a:ext>
            </a:extLst>
          </p:cNvPr>
          <p:cNvSpPr/>
          <p:nvPr/>
        </p:nvSpPr>
        <p:spPr>
          <a:xfrm>
            <a:off x="1" y="1"/>
            <a:ext cx="9144000" cy="171013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80247"/>
            <a:ext cx="8229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lang="it-IT" dirty="0">
                <a:latin typeface="Baskerville" panose="02020502070401020303" pitchFamily="18" charset="0"/>
                <a:ea typeface="Baskerville" panose="02020502070401020303" pitchFamily="18" charset="0"/>
              </a:rPr>
              <a:t>GRAPHGRADCAM</a:t>
            </a:r>
            <a:endParaRPr dirty="0"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855067"/>
            <a:ext cx="47277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8"/>
                </a:solidFill>
              </a:defRPr>
            </a:pPr>
            <a:r>
              <a:rPr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Extra Objective: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Visualize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and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interpret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which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edges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/relations </a:t>
            </a:r>
          </a:p>
          <a:p>
            <a:pPr>
              <a:defRPr sz="1400">
                <a:solidFill>
                  <a:srgbClr val="009688"/>
                </a:solidFill>
              </a:defRPr>
            </a:pP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act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as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critical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focal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points for the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model's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similarity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 </a:t>
            </a:r>
            <a:r>
              <a:rPr lang="it-IT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metric</a:t>
            </a:r>
            <a:r>
              <a:rPr lang="it-IT" dirty="0">
                <a:solidFill>
                  <a:schemeClr val="tx2">
                    <a:lumMod val="40000"/>
                    <a:lumOff val="60000"/>
                  </a:schemeClr>
                </a:solidFill>
                <a:latin typeface="Baskerville" panose="02020502070401020303" pitchFamily="18" charset="0"/>
                <a:ea typeface="Baskerville" panose="02020502070401020303" pitchFamily="18" charset="0"/>
              </a:rPr>
              <a:t>.</a:t>
            </a:r>
            <a:endParaRPr dirty="0">
              <a:solidFill>
                <a:schemeClr val="tx2">
                  <a:lumMod val="40000"/>
                  <a:lumOff val="60000"/>
                </a:schemeClr>
              </a:solidFill>
              <a:latin typeface="Baskerville" panose="02020502070401020303" pitchFamily="18" charset="0"/>
              <a:ea typeface="Baskerville" panose="02020502070401020303" pitchFamily="18" charset="0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BE01316-36EF-0672-8873-1260D64BB4F6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3475476C-01EF-2801-B13A-B3968D3C067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674" t="3697" b="63837"/>
          <a:stretch/>
        </p:blipFill>
        <p:spPr>
          <a:xfrm>
            <a:off x="1026419" y="2009743"/>
            <a:ext cx="7091161" cy="4185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3081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5720"/>
            <a:ext cx="9144000" cy="10744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rPr dirty="0"/>
              <a:t>[Backup Q&amp;A] </a:t>
            </a:r>
            <a:r>
              <a:rPr dirty="0" err="1"/>
              <a:t>Robustezza</a:t>
            </a:r>
            <a:r>
              <a:rPr dirty="0"/>
              <a:t> </a:t>
            </a:r>
            <a:r>
              <a:rPr dirty="0" err="1"/>
              <a:t>completa</a:t>
            </a:r>
            <a:r>
              <a:rPr dirty="0"/>
              <a:t> per </a:t>
            </a:r>
            <a:r>
              <a:rPr dirty="0" err="1"/>
              <a:t>livello</a:t>
            </a:r>
            <a:r>
              <a:rPr dirty="0"/>
              <a:t> di </a:t>
            </a:r>
            <a:r>
              <a:rPr dirty="0" err="1"/>
              <a:t>perturbazione</a:t>
            </a:r>
            <a:endParaRPr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9239794"/>
              </p:ext>
            </p:extLst>
          </p:nvPr>
        </p:nvGraphicFramePr>
        <p:xfrm>
          <a:off x="1280160" y="1897380"/>
          <a:ext cx="65836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drop%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GCN acc@1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GINE acc@1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GCN mAP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GINE mAP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49.9%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65.9%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57.8%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55.9%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45.0%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62.4%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53.2%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dirty="0"/>
                        <a:t>51.0%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41.5%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50.5%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45.1%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35.8%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t>53.0%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555555"/>
                          </a:solidFill>
                        </a:defRPr>
                      </a:pPr>
                      <a:r>
                        <a:rPr dirty="0"/>
                        <a:t>45.5%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FE73CD5-BC28-C74F-A3F8-3F58D159018E}"/>
              </a:ext>
            </a:extLst>
          </p:cNvPr>
          <p:cNvSpPr txBox="1"/>
          <p:nvPr/>
        </p:nvSpPr>
        <p:spPr>
          <a:xfrm>
            <a:off x="6795280" y="6673334"/>
            <a:ext cx="2348720" cy="1846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</a:defRPr>
            </a:pPr>
            <a:r>
              <a:rPr sz="600" dirty="0"/>
              <a:t>G18 · Track 3 · Graph-based Metric Learning for Scene Understanding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612</Words>
  <Application>Microsoft Macintosh PowerPoint</Application>
  <PresentationFormat>Presentazione su schermo (4:3)</PresentationFormat>
  <Paragraphs>137</Paragraphs>
  <Slides>17</Slides>
  <Notes>12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4" baseType="lpstr">
      <vt:lpstr>Aptos</vt:lpstr>
      <vt:lpstr>Arial</vt:lpstr>
      <vt:lpstr>Baskerville</vt:lpstr>
      <vt:lpstr>Calibri</vt:lpstr>
      <vt:lpstr>Mona Sans VF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SALVATORE MARIO CAROTA</cp:lastModifiedBy>
  <cp:revision>2</cp:revision>
  <dcterms:created xsi:type="dcterms:W3CDTF">2013-01-27T09:14:16Z</dcterms:created>
  <dcterms:modified xsi:type="dcterms:W3CDTF">2026-06-16T11:17:16Z</dcterms:modified>
  <cp:category/>
</cp:coreProperties>
</file>