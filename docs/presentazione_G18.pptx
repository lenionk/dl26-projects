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68" r:id="rId4"/>
    <p:sldId id="259" r:id="rId5"/>
    <p:sldId id="261" r:id="rId6"/>
    <p:sldId id="272" r:id="rId7"/>
    <p:sldId id="273" r:id="rId8"/>
    <p:sldId id="258" r:id="rId9"/>
    <p:sldId id="263" r:id="rId10"/>
    <p:sldId id="275" r:id="rId11"/>
    <p:sldId id="276" r:id="rId12"/>
    <p:sldId id="279" r:id="rId13"/>
    <p:sldId id="280" r:id="rId14"/>
    <p:sldId id="27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871"/>
    <p:restoredTop sz="94582"/>
  </p:normalViewPr>
  <p:slideViewPr>
    <p:cSldViewPr snapToGrid="0" snapToObjects="1">
      <p:cViewPr>
        <p:scale>
          <a:sx n="82" d="100"/>
          <a:sy n="82" d="100"/>
        </p:scale>
        <p:origin x="1608" y="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A9F8E-B731-1F41-B14B-DAD304D0450F}" type="datetimeFigureOut">
              <a:rPr lang="it-IT" smtClean="0"/>
              <a:t>20/06/26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B9327-D0A7-5649-A45A-B67BEC17EDD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0519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2262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3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7789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7075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0029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31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46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0503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03129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50799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850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nionK/dl26-projects/tree/mai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dorarad/gqa/abou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489BDE29-E414-C8C6-931B-53586D4C8090}"/>
              </a:ext>
            </a:extLst>
          </p:cNvPr>
          <p:cNvSpPr/>
          <p:nvPr/>
        </p:nvSpPr>
        <p:spPr>
          <a:xfrm>
            <a:off x="-69271" y="1085445"/>
            <a:ext cx="9268691" cy="274523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extBox 1"/>
          <p:cNvSpPr txBox="1"/>
          <p:nvPr/>
        </p:nvSpPr>
        <p:spPr>
          <a:xfrm>
            <a:off x="533754" y="1578401"/>
            <a:ext cx="7924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9688"/>
                </a:solidFill>
              </a:defRPr>
            </a:pPr>
            <a:r>
              <a:rPr sz="20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Deep Learning: Advanced Models and Methods (DL26)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754" y="2115284"/>
            <a:ext cx="80673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Track 3: Graph-bas</a:t>
            </a:r>
            <a:r>
              <a:rPr lang="it-IT"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e</a:t>
            </a: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d Metric Learning</a:t>
            </a:r>
            <a:b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</a:b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for Scene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068" y="5110835"/>
            <a:ext cx="3068212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Gruppo: G18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sz="1600" dirty="0" err="1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Membri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: [</a:t>
            </a:r>
            <a:r>
              <a:rPr lang="it-IT"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Salvatore Mario Carota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]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endParaRPr sz="1600" dirty="0">
              <a:solidFill>
                <a:schemeClr val="accent2">
                  <a:lumMod val="5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0D7217-19E0-A08C-E188-6AAA68F88C3F}"/>
              </a:ext>
            </a:extLst>
          </p:cNvPr>
          <p:cNvSpPr txBox="1"/>
          <p:nvPr/>
        </p:nvSpPr>
        <p:spPr>
          <a:xfrm>
            <a:off x="4728310" y="5110835"/>
            <a:ext cx="406249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lang="it-IT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Repository: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https://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github.com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LenionK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/dl26-projects</a:t>
            </a:r>
            <a:endParaRPr lang="it-IT" sz="1600"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C0D53EF-2C28-A3C2-24DF-CDB7399A065C}"/>
              </a:ext>
            </a:extLst>
          </p:cNvPr>
          <p:cNvSpPr/>
          <p:nvPr/>
        </p:nvSpPr>
        <p:spPr>
          <a:xfrm>
            <a:off x="4609070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526B215B-B528-6C15-C694-667FDBE739E9}"/>
              </a:ext>
            </a:extLst>
          </p:cNvPr>
          <p:cNvSpPr/>
          <p:nvPr/>
        </p:nvSpPr>
        <p:spPr>
          <a:xfrm>
            <a:off x="628828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DCA083CF-505F-7DBF-E1A7-B91F9EEF519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82597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From Pixels to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Representing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Scenes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b="1" i="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Structured</a:t>
            </a:r>
            <a:r>
              <a:rPr lang="it-IT" sz="3000" b="1" i="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Data</a:t>
            </a:r>
            <a:endParaRPr lang="it-IT" sz="3000" b="1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2" name="Immagine 1" descr="Immagine che contiene testo, arredo, tavolo, sedia&#10;&#10;Descrizione generata automaticamente">
            <a:extLst>
              <a:ext uri="{FF2B5EF4-FFF2-40B4-BE49-F238E27FC236}">
                <a16:creationId xmlns:a16="http://schemas.microsoft.com/office/drawing/2014/main" id="{D3DA32F0-819E-C8DD-A9C3-BB0E264B1F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55" b="-1713"/>
          <a:stretch/>
        </p:blipFill>
        <p:spPr>
          <a:xfrm>
            <a:off x="685800" y="2073797"/>
            <a:ext cx="7772400" cy="39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4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0934DA-CB1E-F197-7F97-ACDDBAC4D8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199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GQA: Visual Reasoning in the Real World</a:t>
            </a:r>
            <a:endParaRPr lang="it-IT" sz="3000" b="1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F689D21-051B-B69C-1CB5-FD6E0C9D7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425" y="2377441"/>
            <a:ext cx="8723149" cy="3442424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7E41CED-EEE5-6309-D795-475AB25C260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6241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11">
            <a:extLst>
              <a:ext uri="{FF2B5EF4-FFF2-40B4-BE49-F238E27FC236}">
                <a16:creationId xmlns:a16="http://schemas.microsoft.com/office/drawing/2014/main" id="{6E7C60D0-BE8A-1E28-1873-AB36FB1F9B4D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8" name="Immagine 7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9885B957-11CE-EA3F-FAC6-66448AF5AA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332" r="47084" b="2804"/>
          <a:stretch/>
        </p:blipFill>
        <p:spPr>
          <a:xfrm>
            <a:off x="2711312" y="1931794"/>
            <a:ext cx="6300000" cy="45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Bridging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the Gap: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Automatic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3000" u="none" strike="noStrike" dirty="0" err="1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Labeling</a:t>
            </a:r>
            <a:r>
              <a:rPr lang="it-IT" sz="3000" u="none" strike="noStrike" dirty="0">
                <a:solidFill>
                  <a:srgbClr val="FFFFFF"/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CLIP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7887584-59F0-8EF5-B9F7-1E80FFAD6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632605"/>
              </p:ext>
            </p:extLst>
          </p:nvPr>
        </p:nvGraphicFramePr>
        <p:xfrm>
          <a:off x="457200" y="2089418"/>
          <a:ext cx="203119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192">
                  <a:extLst>
                    <a:ext uri="{9D8B030D-6E8A-4147-A177-3AD203B41FA5}">
                      <a16:colId xmlns:a16="http://schemas.microsoft.com/office/drawing/2014/main" val="34446320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Classi di Partenza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72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Interni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Urbano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772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Natura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04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Cibo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710965"/>
                  </a:ext>
                </a:extLst>
              </a:tr>
            </a:tbl>
          </a:graphicData>
        </a:graphic>
      </p:graphicFrame>
      <p:sp>
        <p:nvSpPr>
          <p:cNvPr id="13" name="TextBox 5">
            <a:extLst>
              <a:ext uri="{FF2B5EF4-FFF2-40B4-BE49-F238E27FC236}">
                <a16:creationId xmlns:a16="http://schemas.microsoft.com/office/drawing/2014/main" id="{3E61655E-8FDA-F6D2-BE57-08D052C56293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tangolo 15">
            <a:extLst>
              <a:ext uri="{FF2B5EF4-FFF2-40B4-BE49-F238E27FC236}">
                <a16:creationId xmlns:a16="http://schemas.microsoft.com/office/drawing/2014/main" id="{ADEBFC1F-ABB5-033D-E24A-7D0693DA2774}"/>
              </a:ext>
            </a:extLst>
          </p:cNvPr>
          <p:cNvSpPr/>
          <p:nvPr/>
        </p:nvSpPr>
        <p:spPr>
          <a:xfrm>
            <a:off x="2129454" y="4570543"/>
            <a:ext cx="4885084" cy="140287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8704AE6-40EE-47D4-DD52-6BBCF5FAA930}"/>
              </a:ext>
            </a:extLst>
          </p:cNvPr>
          <p:cNvSpPr/>
          <p:nvPr/>
        </p:nvSpPr>
        <p:spPr>
          <a:xfrm>
            <a:off x="2129455" y="4445604"/>
            <a:ext cx="4885084" cy="48417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70E964E-FA8C-4B36-C6B9-78D99B421F9E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008876"/>
              </p:ext>
            </p:extLst>
          </p:nvPr>
        </p:nvGraphicFramePr>
        <p:xfrm>
          <a:off x="698157" y="2188656"/>
          <a:ext cx="7747685" cy="1775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6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9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Modello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Input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Architettura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Embedding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Immagine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ResNet-18 → FC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GCN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3× </a:t>
                      </a:r>
                      <a:r>
                        <a:rPr sz="1600" dirty="0" err="1"/>
                        <a:t>GCNConv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r>
                        <a:rPr sz="1600" dirty="0"/>
                        <a:t> + edge type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4× </a:t>
                      </a:r>
                      <a:r>
                        <a:rPr sz="1600" dirty="0" err="1"/>
                        <a:t>GINEConv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198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Tre encoder,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stesso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obiettivo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metrico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0258E7-6672-2295-E26F-06F8E56CACB8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E6CFEAB-4830-27EE-DBF4-89E139FF2391}"/>
              </a:ext>
            </a:extLst>
          </p:cNvPr>
          <p:cNvSpPr txBox="1"/>
          <p:nvPr/>
        </p:nvSpPr>
        <p:spPr>
          <a:xfrm>
            <a:off x="2261152" y="3234395"/>
            <a:ext cx="4621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91D082B-E472-366B-62A0-2404D5DC6CB2}"/>
              </a:ext>
            </a:extLst>
          </p:cNvPr>
          <p:cNvSpPr txBox="1"/>
          <p:nvPr/>
        </p:nvSpPr>
        <p:spPr>
          <a:xfrm>
            <a:off x="3156878" y="4503025"/>
            <a:ext cx="2830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0" u="none" strike="noStrike" dirty="0" err="1">
                <a:solidFill>
                  <a:schemeClr val="bg1"/>
                </a:solidFill>
                <a:effectLst/>
                <a:latin typeface="-webkit-standard"/>
              </a:rPr>
              <a:t>Supervised</a:t>
            </a:r>
            <a:r>
              <a:rPr lang="it-IT" b="1" i="0" u="none" strike="noStrike" dirty="0">
                <a:solidFill>
                  <a:schemeClr val="bg1"/>
                </a:solidFill>
                <a:effectLst/>
                <a:latin typeface="-webkit-standard"/>
              </a:rPr>
              <a:t> Contrastive Loss</a:t>
            </a:r>
            <a:endParaRPr lang="it-IT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/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m:rPr>
                          <m:nor/>
                        </m:rPr>
                        <a:rPr lang="it-IT"/>
                        <m:t> = − </m:t>
                      </m:r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</m:den>
                          </m:f>
                        </m:e>
                      </m:nary>
                      <m:r>
                        <m:rPr>
                          <m:nor/>
                        </m:rPr>
                        <a:rPr lang="it-IT"/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it-IT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b="0" i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it-IT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den>
                          </m:f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3A70120B-C001-F097-7C61-77CF25143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827" y="5009855"/>
                <a:ext cx="4750339" cy="814582"/>
              </a:xfrm>
              <a:prstGeom prst="rect">
                <a:avLst/>
              </a:prstGeom>
              <a:blipFill>
                <a:blip r:embed="rId2"/>
                <a:stretch>
                  <a:fillRect l="-532" t="-106154" r="-1064" b="-1615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298CA6A-C425-ABC4-F22C-B09D55F21BB9}"/>
              </a:ext>
            </a:extLst>
          </p:cNvPr>
          <p:cNvSpPr txBox="1"/>
          <p:nvPr/>
        </p:nvSpPr>
        <p:spPr>
          <a:xfrm>
            <a:off x="477076" y="1082264"/>
            <a:ext cx="38135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Baseline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- 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Contrastive Training</a:t>
            </a:r>
            <a:endParaRPr lang="it-IT" sz="1400" b="0" i="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11CA78E-FC80-9F0B-1D62-F978D80C0F8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28036D07-A17B-C301-6916-B15E3738E93B}"/>
              </a:ext>
            </a:extLst>
          </p:cNvPr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e </a:t>
            </a:r>
            <a:r>
              <a:rPr lang="it-IT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iperparametri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8044935-0DB9-6E7C-6C40-E0F77BD96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407994"/>
              </p:ext>
            </p:extLst>
          </p:nvPr>
        </p:nvGraphicFramePr>
        <p:xfrm>
          <a:off x="577679" y="2618850"/>
          <a:ext cx="7988642" cy="275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>
                  <a:extLst>
                    <a:ext uri="{9D8B030D-6E8A-4147-A177-3AD203B41FA5}">
                      <a16:colId xmlns:a16="http://schemas.microsoft.com/office/drawing/2014/main" val="3997176440"/>
                    </a:ext>
                  </a:extLst>
                </a:gridCol>
                <a:gridCol w="2987000">
                  <a:extLst>
                    <a:ext uri="{9D8B030D-6E8A-4147-A177-3AD203B41FA5}">
                      <a16:colId xmlns:a16="http://schemas.microsoft.com/office/drawing/2014/main" val="3042647182"/>
                    </a:ext>
                  </a:extLst>
                </a:gridCol>
                <a:gridCol w="3617686">
                  <a:extLst>
                    <a:ext uri="{9D8B030D-6E8A-4147-A177-3AD203B41FA5}">
                      <a16:colId xmlns:a16="http://schemas.microsoft.com/office/drawing/2014/main" val="3300564228"/>
                    </a:ext>
                  </a:extLst>
                </a:gridCol>
              </a:tblGrid>
              <a:tr h="298931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Parametro 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GCN/GINE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5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Optimizer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 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=1°-4)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=3e-4, 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weight_decay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=1e-4)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788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Scheduler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CosineAnnealingLR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89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Grad clipping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Max_norm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=1.0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335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Batch sampling 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0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Epochs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10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3612421"/>
                  </a:ext>
                </a:extLst>
              </a:tr>
            </a:tbl>
          </a:graphicData>
        </a:graphic>
      </p:graphicFrame>
      <p:sp>
        <p:nvSpPr>
          <p:cNvPr id="10" name="TextBox 5">
            <a:extLst>
              <a:ext uri="{FF2B5EF4-FFF2-40B4-BE49-F238E27FC236}">
                <a16:creationId xmlns:a16="http://schemas.microsoft.com/office/drawing/2014/main" id="{DC29F4CB-6783-5CF8-04BD-F1406DFB2529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194307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9B567F33-81DB-3BE3-F007-037FCF230204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385676F-4E1E-CFCA-E104-754AA6856866}"/>
              </a:ext>
            </a:extLst>
          </p:cNvPr>
          <p:cNvSpPr/>
          <p:nvPr/>
        </p:nvSpPr>
        <p:spPr>
          <a:xfrm>
            <a:off x="425398" y="3053401"/>
            <a:ext cx="1597598" cy="2057400"/>
          </a:xfrm>
          <a:prstGeom prst="rect">
            <a:avLst/>
          </a:prstGeom>
          <a:noFill/>
          <a:ln w="2540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/>
          <p:cNvSpPr txBox="1"/>
          <p:nvPr/>
        </p:nvSpPr>
        <p:spPr>
          <a:xfrm>
            <a:off x="425398" y="29797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41B4D41-1343-2811-CF13-464DE20B4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47" t="10436" r="34488"/>
          <a:stretch/>
        </p:blipFill>
        <p:spPr>
          <a:xfrm>
            <a:off x="2566219" y="4575717"/>
            <a:ext cx="5466142" cy="16007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622D72-7464-E442-760B-B75B6ACC1B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647" t="10161" r="32958"/>
          <a:stretch/>
        </p:blipFill>
        <p:spPr>
          <a:xfrm>
            <a:off x="2566220" y="2316018"/>
            <a:ext cx="5554980" cy="160073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16BF712-EAA7-67F0-D037-486D5E2ECF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9" t="30361" r="90572" b="3543"/>
          <a:stretch/>
        </p:blipFill>
        <p:spPr>
          <a:xfrm>
            <a:off x="540197" y="3200101"/>
            <a:ext cx="1368000" cy="1764000"/>
          </a:xfrm>
          <a:prstGeom prst="rect">
            <a:avLst/>
          </a:prstGeom>
          <a:ln w="0">
            <a:noFill/>
          </a:ln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86B7A1C-E2FC-166F-BEF2-B2AFBA3BC8EE}"/>
              </a:ext>
            </a:extLst>
          </p:cNvPr>
          <p:cNvSpPr txBox="1"/>
          <p:nvPr/>
        </p:nvSpPr>
        <p:spPr>
          <a:xfrm>
            <a:off x="2465203" y="4303188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GCN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396C517-0497-3C40-82DF-4BB691B42B8F}"/>
              </a:ext>
            </a:extLst>
          </p:cNvPr>
          <p:cNvSpPr txBox="1"/>
          <p:nvPr/>
        </p:nvSpPr>
        <p:spPr>
          <a:xfrm>
            <a:off x="2466806" y="2018394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CNN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C8901E7-A787-2426-66E4-41231BC18713}"/>
              </a:ext>
            </a:extLst>
          </p:cNvPr>
          <p:cNvSpPr txBox="1"/>
          <p:nvPr/>
        </p:nvSpPr>
        <p:spPr>
          <a:xfrm>
            <a:off x="640374" y="2610719"/>
            <a:ext cx="1021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02A8636-1F7B-AFC7-E4BF-007BF2B69C5D}"/>
              </a:ext>
            </a:extLst>
          </p:cNvPr>
          <p:cNvSpPr/>
          <p:nvPr/>
        </p:nvSpPr>
        <p:spPr>
          <a:xfrm>
            <a:off x="2566219" y="4634020"/>
            <a:ext cx="5554981" cy="1600731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3E8E51A-DC0E-2F62-3FDE-3BB978E5A7E3}"/>
              </a:ext>
            </a:extLst>
          </p:cNvPr>
          <p:cNvSpPr/>
          <p:nvPr/>
        </p:nvSpPr>
        <p:spPr>
          <a:xfrm>
            <a:off x="2566219" y="2373996"/>
            <a:ext cx="5554981" cy="1600731"/>
          </a:xfrm>
          <a:prstGeom prst="rect">
            <a:avLst/>
          </a:prstGeom>
          <a:noFill/>
          <a:ln w="25400">
            <a:solidFill>
              <a:schemeClr val="tx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317E21BE-A708-A214-C59B-B6523FD2C487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8575C5-30F0-4F79-8E3A-191A03740816}"/>
              </a:ext>
            </a:extLst>
          </p:cNvPr>
          <p:cNvSpPr txBox="1"/>
          <p:nvPr/>
        </p:nvSpPr>
        <p:spPr>
          <a:xfrm>
            <a:off x="425398" y="822594"/>
            <a:ext cx="83409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it-IT" sz="1400" b="1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Evaluation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: Given a query scene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perform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retrieval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on the dataset to fetch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structurally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similar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graphs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evaluating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via standard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classification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metrics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 (</a:t>
            </a:r>
            <a:r>
              <a:rPr lang="it-IT" sz="1400" b="0" i="0" dirty="0" err="1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Accuracy</a:t>
            </a:r>
            <a:r>
              <a:rPr lang="it-IT" sz="1400" b="0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Baskerville" panose="02020502070401020303" pitchFamily="18" charset="0"/>
                <a:ea typeface="Baskerville" panose="02020502070401020303" pitchFamily="18" charset="0"/>
              </a:rPr>
              <a:t>, Precision, Recall).</a:t>
            </a:r>
          </a:p>
        </p:txBody>
      </p:sp>
    </p:spTree>
    <p:extLst>
      <p:ext uri="{BB962C8B-B14F-4D97-AF65-F5344CB8AC3E}">
        <p14:creationId xmlns:p14="http://schemas.microsoft.com/office/powerpoint/2010/main" val="3040859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30074EC2-CA0A-6318-9EE1-84C6E4E40A3B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4723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Metriche: 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96DB7037-0748-7255-B680-2A70C7336CA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9C70CD44-542C-44E5-B09C-AC9BD660F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339487"/>
              </p:ext>
            </p:extLst>
          </p:nvPr>
        </p:nvGraphicFramePr>
        <p:xfrm>
          <a:off x="1570516" y="2256906"/>
          <a:ext cx="6002967" cy="3869655"/>
        </p:xfrm>
        <a:graphic>
          <a:graphicData uri="http://schemas.openxmlformats.org/drawingml/2006/table">
            <a:tbl>
              <a:tblPr/>
              <a:tblGrid>
                <a:gridCol w="1606066">
                  <a:extLst>
                    <a:ext uri="{9D8B030D-6E8A-4147-A177-3AD203B41FA5}">
                      <a16:colId xmlns:a16="http://schemas.microsoft.com/office/drawing/2014/main" val="126001625"/>
                    </a:ext>
                  </a:extLst>
                </a:gridCol>
                <a:gridCol w="1574392">
                  <a:extLst>
                    <a:ext uri="{9D8B030D-6E8A-4147-A177-3AD203B41FA5}">
                      <a16:colId xmlns:a16="http://schemas.microsoft.com/office/drawing/2014/main" val="1070392771"/>
                    </a:ext>
                  </a:extLst>
                </a:gridCol>
                <a:gridCol w="1544324">
                  <a:extLst>
                    <a:ext uri="{9D8B030D-6E8A-4147-A177-3AD203B41FA5}">
                      <a16:colId xmlns:a16="http://schemas.microsoft.com/office/drawing/2014/main" val="654492443"/>
                    </a:ext>
                  </a:extLst>
                </a:gridCol>
                <a:gridCol w="1278185">
                  <a:extLst>
                    <a:ext uri="{9D8B030D-6E8A-4147-A177-3AD203B41FA5}">
                      <a16:colId xmlns:a16="http://schemas.microsoft.com/office/drawing/2014/main" val="802360710"/>
                    </a:ext>
                  </a:extLst>
                </a:gridCol>
              </a:tblGrid>
              <a:tr h="30656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 err="1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Metric</a:t>
                      </a:r>
                      <a:endParaRPr lang="it-IT" sz="1800" b="1" kern="1200" dirty="0">
                        <a:solidFill>
                          <a:schemeClr val="bg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Baseline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GCN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bg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GINE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458907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acc@1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218779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precision_macro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0.5855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0.5673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0.4877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723023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recall_macro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0.5661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0.4892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428137"/>
                  </a:ext>
                </a:extLst>
              </a:tr>
              <a:tr h="38951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515380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0.8395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0.8204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0.7883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420979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recall@10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0.8881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0.8791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0.8572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71068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0.6231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0.5966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0.4991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631774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0.6195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0.6032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0.5002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681104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precision@10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0.6152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0.6046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0.4978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004776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mrr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0.7163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0.6949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621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6660232"/>
                  </a:ext>
                </a:extLst>
              </a:tr>
              <a:tr h="317357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</a:pPr>
                      <a:r>
                        <a:rPr lang="it-IT" sz="1800" kern="1200" dirty="0" err="1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map</a:t>
                      </a:r>
                      <a:endParaRPr lang="it-IT" sz="1800" kern="1200" dirty="0">
                        <a:solidFill>
                          <a:schemeClr val="dk1"/>
                        </a:solidFill>
                        <a:latin typeface="Baskerville" panose="02020502070401020303" pitchFamily="18" charset="0"/>
                        <a:ea typeface="Baskerville" panose="02020502070401020303" pitchFamily="18" charset="0"/>
                        <a:cs typeface="+mn-cs"/>
                      </a:endParaRP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b="1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0.6631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0.5778</a:t>
                      </a:r>
                    </a:p>
                  </a:txBody>
                  <a:tcPr marL="10085" marR="10085" marT="10085" marB="10085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5211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D11E3E-FD66-0E82-020E-6DA8C3313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875" r="50000"/>
          <a:stretch/>
        </p:blipFill>
        <p:spPr>
          <a:xfrm>
            <a:off x="897648" y="2025219"/>
            <a:ext cx="7348703" cy="457062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DC7ECAE4-EBFE-04FB-7DAB-C71DC7E80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907"/>
          <a:stretch/>
        </p:blipFill>
        <p:spPr>
          <a:xfrm>
            <a:off x="100255" y="1710133"/>
            <a:ext cx="8969993" cy="5139318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GRADCAM++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528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0EA6ED9F-6063-557D-037D-9954EFB86B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95" t="35897" r="51067" b="31793"/>
          <a:stretch/>
        </p:blipFill>
        <p:spPr>
          <a:xfrm>
            <a:off x="369276" y="1745426"/>
            <a:ext cx="7589524" cy="4397477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0" y="-19042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89803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-30441" y="6690178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49E7093A-B6D6-659A-954B-E5703FF541F3}"/>
              </a:ext>
            </a:extLst>
          </p:cNvPr>
          <p:cNvSpPr/>
          <p:nvPr/>
        </p:nvSpPr>
        <p:spPr>
          <a:xfrm rot="16200000">
            <a:off x="5809065" y="3913146"/>
            <a:ext cx="3780027" cy="180386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highlight>
                <a:srgbClr val="000000"/>
              </a:highlight>
            </a:endParaRPr>
          </a:p>
        </p:txBody>
      </p:sp>
      <p:pic>
        <p:nvPicPr>
          <p:cNvPr id="14" name="Immagine 13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77FC8E55-7DD4-BEC0-AB04-0F61E2C2725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8" t="29327" r="83819" b="4286"/>
          <a:stretch/>
        </p:blipFill>
        <p:spPr>
          <a:xfrm>
            <a:off x="6903142" y="3042831"/>
            <a:ext cx="1577267" cy="1124031"/>
          </a:xfrm>
          <a:prstGeom prst="rect">
            <a:avLst/>
          </a:prstGeom>
        </p:spPr>
      </p:pic>
      <p:pic>
        <p:nvPicPr>
          <p:cNvPr id="18" name="Immagine 17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2B3ABA99-A83B-4332-709A-1E7A4368628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720" t="33614" r="65996" b="8422"/>
          <a:stretch/>
        </p:blipFill>
        <p:spPr>
          <a:xfrm>
            <a:off x="6903142" y="4274424"/>
            <a:ext cx="1577267" cy="1097439"/>
          </a:xfrm>
          <a:prstGeom prst="rect">
            <a:avLst/>
          </a:prstGeom>
        </p:spPr>
      </p:pic>
      <p:pic>
        <p:nvPicPr>
          <p:cNvPr id="24" name="Immagine 23" descr="Immagine che contiene acqua, panorama, cielo, schermata&#10;&#10;Descrizione generata automaticamente">
            <a:extLst>
              <a:ext uri="{FF2B5EF4-FFF2-40B4-BE49-F238E27FC236}">
                <a16:creationId xmlns:a16="http://schemas.microsoft.com/office/drawing/2014/main" id="{E0B5EEAB-293D-0183-7F82-76DF868043E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586" t="36096" r="48907" b="5940"/>
          <a:stretch/>
        </p:blipFill>
        <p:spPr>
          <a:xfrm>
            <a:off x="6903143" y="5494307"/>
            <a:ext cx="1577266" cy="1097439"/>
          </a:xfrm>
          <a:prstGeom prst="rect">
            <a:avLst/>
          </a:prstGeom>
        </p:spPr>
      </p:pic>
      <p:sp>
        <p:nvSpPr>
          <p:cNvPr id="30" name="Rettangolo 29">
            <a:extLst>
              <a:ext uri="{FF2B5EF4-FFF2-40B4-BE49-F238E27FC236}">
                <a16:creationId xmlns:a16="http://schemas.microsoft.com/office/drawing/2014/main" id="{B8BF2F8A-E7F0-A1F1-68C0-9F6747367DCF}"/>
              </a:ext>
            </a:extLst>
          </p:cNvPr>
          <p:cNvSpPr/>
          <p:nvPr/>
        </p:nvSpPr>
        <p:spPr>
          <a:xfrm>
            <a:off x="7842098" y="3102970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QUERY</a:t>
            </a:r>
            <a:endParaRPr lang="it-IT" dirty="0">
              <a:highlight>
                <a:srgbClr val="000000"/>
              </a:highlight>
            </a:endParaRP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6057C267-344A-9457-B625-F28C415E4584}"/>
              </a:ext>
            </a:extLst>
          </p:cNvPr>
          <p:cNvSpPr/>
          <p:nvPr/>
        </p:nvSpPr>
        <p:spPr>
          <a:xfrm>
            <a:off x="7842097" y="4323441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 err="1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Retr</a:t>
            </a:r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 #1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6C7DDF5D-595B-5D1B-9E57-89D320EC786C}"/>
              </a:ext>
            </a:extLst>
          </p:cNvPr>
          <p:cNvSpPr/>
          <p:nvPr/>
        </p:nvSpPr>
        <p:spPr>
          <a:xfrm>
            <a:off x="7842097" y="5538372"/>
            <a:ext cx="584349" cy="1567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bg1"/>
                </a:solidFill>
                <a:latin typeface="Times New Roman" panose="02020603050405020304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Retr#2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BFBBE1CA-039E-D00D-5187-9A7824E7A6A8}"/>
              </a:ext>
            </a:extLst>
          </p:cNvPr>
          <p:cNvSpPr txBox="1"/>
          <p:nvPr/>
        </p:nvSpPr>
        <p:spPr>
          <a:xfrm>
            <a:off x="457200" y="1044262"/>
            <a:ext cx="132741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</a:t>
            </a:r>
          </a:p>
        </p:txBody>
      </p:sp>
    </p:spTree>
    <p:extLst>
      <p:ext uri="{BB962C8B-B14F-4D97-AF65-F5344CB8AC3E}">
        <p14:creationId xmlns:p14="http://schemas.microsoft.com/office/powerpoint/2010/main" val="1353906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0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Point Analysis — Ranking Disruption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C635F95D-78E8-3562-F879-C639947C73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39304"/>
              </p:ext>
            </p:extLst>
          </p:nvPr>
        </p:nvGraphicFramePr>
        <p:xfrm>
          <a:off x="559823" y="2350783"/>
          <a:ext cx="3880884" cy="2954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0297">
                  <a:extLst>
                    <a:ext uri="{9D8B030D-6E8A-4147-A177-3AD203B41FA5}">
                      <a16:colId xmlns:a16="http://schemas.microsoft.com/office/drawing/2014/main" val="1296631523"/>
                    </a:ext>
                  </a:extLst>
                </a:gridCol>
                <a:gridCol w="1330587">
                  <a:extLst>
                    <a:ext uri="{9D8B030D-6E8A-4147-A177-3AD203B41FA5}">
                      <a16:colId xmlns:a16="http://schemas.microsoft.com/office/drawing/2014/main" val="2030854793"/>
                    </a:ext>
                  </a:extLst>
                </a:gridCol>
              </a:tblGrid>
              <a:tr h="393923"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latin typeface="Baskerville" panose="02020502070401020303" pitchFamily="18" charset="0"/>
                          <a:ea typeface="Baskerville" panose="02020502070401020303" pitchFamily="18" charset="0"/>
                          <a:cs typeface="Times New Roman" panose="02020603050405020304" pitchFamily="18" charset="0"/>
                        </a:rPr>
                        <a:t>Relazioni 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Disruption</a:t>
                      </a:r>
                      <a:endParaRPr lang="it-IT" b="1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42735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leaves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tree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0.516667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9657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person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shirt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0.400000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31394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clouds 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0.366667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733516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shirt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person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0.320000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37230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clouds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sky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0.300000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317729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coat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man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0.260000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84513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tree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→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leaves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0.233333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842011"/>
                  </a:ext>
                </a:extLst>
              </a:tr>
            </a:tbl>
          </a:graphicData>
        </a:graphic>
      </p:graphicFrame>
      <p:sp>
        <p:nvSpPr>
          <p:cNvPr id="14" name="TextBox 3">
            <a:extLst>
              <a:ext uri="{FF2B5EF4-FFF2-40B4-BE49-F238E27FC236}">
                <a16:creationId xmlns:a16="http://schemas.microsoft.com/office/drawing/2014/main" id="{D642D124-4A28-B708-55C8-79A08B728E2B}"/>
              </a:ext>
            </a:extLst>
          </p:cNvPr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BAD613A9-9931-A6F1-BB70-2A8D16F54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141890"/>
              </p:ext>
            </p:extLst>
          </p:nvPr>
        </p:nvGraphicFramePr>
        <p:xfrm>
          <a:off x="4703295" y="2350783"/>
          <a:ext cx="3880884" cy="2954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0297">
                  <a:extLst>
                    <a:ext uri="{9D8B030D-6E8A-4147-A177-3AD203B41FA5}">
                      <a16:colId xmlns:a16="http://schemas.microsoft.com/office/drawing/2014/main" val="1296631523"/>
                    </a:ext>
                  </a:extLst>
                </a:gridCol>
                <a:gridCol w="1330587">
                  <a:extLst>
                    <a:ext uri="{9D8B030D-6E8A-4147-A177-3AD203B41FA5}">
                      <a16:colId xmlns:a16="http://schemas.microsoft.com/office/drawing/2014/main" val="2030854793"/>
                    </a:ext>
                  </a:extLst>
                </a:gridCol>
              </a:tblGrid>
              <a:tr h="393923"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latin typeface="Baskerville" panose="02020502070401020303" pitchFamily="18" charset="0"/>
                          <a:ea typeface="Baskerville" panose="02020502070401020303" pitchFamily="18" charset="0"/>
                          <a:cs typeface="Times New Roman" panose="02020603050405020304" pitchFamily="18" charset="0"/>
                        </a:rPr>
                        <a:t>Relazioni 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Disruption</a:t>
                      </a:r>
                      <a:endParaRPr lang="it-IT" b="1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42735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to the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left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0.542857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9657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to the </a:t>
                      </a:r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right</a:t>
                      </a:r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 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0.485714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31394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on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0.245918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733516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wearing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0.128571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372304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in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0.121429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317729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 err="1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near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0.069388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84513"/>
                  </a:ext>
                </a:extLst>
              </a:tr>
              <a:tr h="363050">
                <a:tc>
                  <a:txBody>
                    <a:bodyPr/>
                    <a:lstStyle/>
                    <a:p>
                      <a:pPr algn="l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of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kern="1200" dirty="0">
                          <a:solidFill>
                            <a:schemeClr val="dk1"/>
                          </a:solidFill>
                          <a:effectLst/>
                          <a:latin typeface="Baskerville" panose="02020502070401020303" pitchFamily="18" charset="0"/>
                          <a:ea typeface="Baskerville" panose="02020502070401020303" pitchFamily="18" charset="0"/>
                          <a:cs typeface="+mn-cs"/>
                        </a:rPr>
                        <a:t>0.063918</a:t>
                      </a:r>
                      <a:endParaRPr lang="it-IT" b="0" dirty="0">
                        <a:latin typeface="Baskerville" panose="02020502070401020303" pitchFamily="18" charset="0"/>
                        <a:ea typeface="Baskerville" panose="02020502070401020303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842011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0CFC377-2DBF-00DD-164D-90D03F9EF081}"/>
              </a:ext>
            </a:extLst>
          </p:cNvPr>
          <p:cNvSpPr txBox="1"/>
          <p:nvPr/>
        </p:nvSpPr>
        <p:spPr>
          <a:xfrm>
            <a:off x="2198740" y="1884653"/>
            <a:ext cx="721672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300" b="1" dirty="0"/>
              <a:t>GCN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2080ED7-134F-CEAD-DD52-92487E001DAE}"/>
              </a:ext>
            </a:extLst>
          </p:cNvPr>
          <p:cNvSpPr txBox="1"/>
          <p:nvPr/>
        </p:nvSpPr>
        <p:spPr>
          <a:xfrm>
            <a:off x="6192230" y="1884653"/>
            <a:ext cx="78899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300" b="1" dirty="0"/>
              <a:t>GINE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E462A7D-5087-6E62-7ED3-8EF073BF760B}"/>
              </a:ext>
            </a:extLst>
          </p:cNvPr>
          <p:cNvSpPr txBox="1"/>
          <p:nvPr/>
        </p:nvSpPr>
        <p:spPr>
          <a:xfrm>
            <a:off x="1941850" y="5695157"/>
            <a:ext cx="5260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Disruption = 1 − </a:t>
            </a:r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overlap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(top-k base, top-k </a:t>
            </a:r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perturbed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)</a:t>
            </a:r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A1F5480-F973-49F5-BE29-ED42C811114C}"/>
              </a:ext>
            </a:extLst>
          </p:cNvPr>
          <p:cNvSpPr txBox="1"/>
          <p:nvPr/>
        </p:nvSpPr>
        <p:spPr>
          <a:xfrm>
            <a:off x="1941849" y="6032076"/>
            <a:ext cx="52602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 err="1">
                <a:latin typeface="Baskerville" panose="02020502070401020303" pitchFamily="18" charset="0"/>
                <a:ea typeface="Baskerville" panose="02020502070401020303" pitchFamily="18" charset="0"/>
              </a:rPr>
              <a:t>overlap</a:t>
            </a: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 = |top-k(base) ∩ top-k(perturbato)| / k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3C9A633F-3B6C-CF9A-183A-4727D01EB7C1}"/>
              </a:ext>
            </a:extLst>
          </p:cNvPr>
          <p:cNvSpPr/>
          <p:nvPr/>
        </p:nvSpPr>
        <p:spPr>
          <a:xfrm>
            <a:off x="1846972" y="5583352"/>
            <a:ext cx="5355176" cy="89744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1278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CFD36F1-77CE-95DC-263E-7B34AC6AEB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2600" b="1" dirty="0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GCN: Studio Archi — </a:t>
            </a:r>
            <a:r>
              <a:rPr lang="it-IT" sz="2600" b="1" dirty="0" err="1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GNNExplainer</a:t>
            </a:r>
            <a:endParaRPr lang="it-IT" sz="2600" b="1" dirty="0">
              <a:solidFill>
                <a:srgbClr val="FFFFFF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A40B807-A490-1900-B9A1-0039E7FAE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892"/>
            <a:ext cx="9144000" cy="454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73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CFD36F1-77CE-95DC-263E-7B34AC6AEB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2600" b="1" dirty="0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GINE: Studio Archi — </a:t>
            </a:r>
            <a:r>
              <a:rPr lang="it-IT" sz="2600" b="1" dirty="0" err="1">
                <a:solidFill>
                  <a:srgbClr val="FFFFFF"/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GNNExplainer</a:t>
            </a:r>
            <a:endParaRPr lang="it-IT" sz="2600" b="1" dirty="0">
              <a:solidFill>
                <a:srgbClr val="FFFFFF"/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D850C5C-ED54-67CE-7C4E-6C85984D6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0276"/>
            <a:ext cx="9144000" cy="454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7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1729</TotalTime>
  <Words>665</Words>
  <Application>Microsoft Macintosh PowerPoint</Application>
  <PresentationFormat>Presentazione su schermo (4:3)</PresentationFormat>
  <Paragraphs>185</Paragraphs>
  <Slides>14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Arial</vt:lpstr>
      <vt:lpstr>Baskerville</vt:lpstr>
      <vt:lpstr>Calibri</vt:lpstr>
      <vt:lpstr>Cambria Math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SALVATORE MARIO CAROTA</cp:lastModifiedBy>
  <cp:revision>7</cp:revision>
  <dcterms:created xsi:type="dcterms:W3CDTF">2013-01-27T09:14:16Z</dcterms:created>
  <dcterms:modified xsi:type="dcterms:W3CDTF">2026-06-20T08:43:46Z</dcterms:modified>
  <cp:category/>
</cp:coreProperties>
</file>