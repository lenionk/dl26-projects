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31520"/>
            <a:ext cx="8046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9688"/>
                </a:solidFill>
              </a:defRPr>
            </a:pPr>
            <a:r>
              <a:t>Deep Learning: Advanced Models and Methods (DL26)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8046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Track 3: Graph-based Metric Learning</a:t>
            </a:r>
            <a:br/>
            <a:r>
              <a:t>for Scene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017520"/>
            <a:ext cx="80467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FFFFF"/>
                </a:solidFill>
              </a:defRPr>
            </a:pPr>
            <a:r>
              <a:t>Gruppo: G18</a:t>
            </a:r>
          </a:p>
          <a:p>
            <a:pPr>
              <a:spcAft>
                <a:spcPts val="600"/>
              </a:spcAft>
              <a:defRPr sz="1400" b="0">
                <a:solidFill>
                  <a:srgbClr val="009688"/>
                </a:solidFill>
              </a:defRPr>
            </a:pPr>
            <a:r>
              <a:t>Membri: [Inserire nome completo]</a:t>
            </a:r>
          </a:p>
          <a:p>
            <a:pPr>
              <a:spcAft>
                <a:spcPts val="600"/>
              </a:spcAft>
              <a:defRPr sz="1400" b="0">
                <a:solidFill>
                  <a:srgbClr val="009688"/>
                </a:solidFill>
              </a:defRPr>
            </a:pPr>
          </a:p>
          <a:p>
            <a:pPr>
              <a:spcAft>
                <a:spcPts val="600"/>
              </a:spcAft>
              <a:defRPr sz="1600" b="1">
                <a:solidFill>
                  <a:srgbClr val="FFFFFF"/>
                </a:solidFill>
              </a:defRPr>
            </a:pPr>
            <a:r>
              <a:t>Repository:</a:t>
            </a:r>
          </a:p>
          <a:p>
            <a:pPr>
              <a:spcAft>
                <a:spcPts val="600"/>
              </a:spcAft>
              <a:defRPr sz="1400" b="0">
                <a:solidFill>
                  <a:srgbClr val="009688"/>
                </a:solidFill>
              </a:defRPr>
            </a:pPr>
            <a:r>
              <a:t>https://github.com/LenionK/dl26-projects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Una scena non è un vettore: è un grafo di oggetti e relazioni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555555"/>
                </a:solidFill>
              </a:defRPr>
            </a:pPr>
            <a:r>
              <a:t>Le CNN comprimono l'immagine in un embedding piatto → perdono struttura composizionale</a:t>
            </a:r>
          </a:p>
          <a:p>
            <a:pPr>
              <a:spcAft>
                <a:spcPts val="800"/>
              </a:spcAft>
              <a:defRPr sz="2000">
                <a:solidFill>
                  <a:srgbClr val="555555"/>
                </a:solidFill>
              </a:defRPr>
            </a:pPr>
            <a:r>
              <a:t>I Scene Graphs modellano nodi (oggetti) e archi (relazioni spaziali/semantiche)</a:t>
            </a:r>
          </a:p>
          <a:p>
            <a:pPr>
              <a:spcAft>
                <a:spcPts val="800"/>
              </a:spcAft>
              <a:defRPr sz="2000">
                <a:solidFill>
                  <a:srgbClr val="555555"/>
                </a:solidFill>
              </a:defRPr>
            </a:pPr>
            <a:r>
              <a:t>Domanda chiave: il retrieval semantico migliora se usiamo esplicitamente la struttura?</a:t>
            </a:r>
          </a:p>
          <a:p>
            <a:pPr>
              <a:spcAft>
                <a:spcPts val="800"/>
              </a:spcAft>
              <a:defRPr sz="2000">
                <a:solidFill>
                  <a:srgbClr val="555555"/>
                </a:solidFill>
              </a:defRPr>
            </a:pPr>
            <a:r>
              <a:t>Obiettivo: embedding metrici che raggruppino scene strutturalmente simili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37960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55555"/>
                </a:solidFill>
              </a:defRPr>
            </a:pPr>
            <a:r>
              <a:t>G18 · Track 3 · Graph-based Metric Learning for Scene Understanding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Il task: scene-to-scene retrieval con metric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555555"/>
                </a:solidFill>
              </a:defRPr>
            </a:pPr>
            <a:r>
              <a:t>Input: immagine + scene graph GQA (ground truth)</a:t>
            </a:r>
          </a:p>
          <a:p>
            <a:pPr>
              <a:spcAft>
                <a:spcPts val="800"/>
              </a:spcAft>
              <a:defRPr sz="1700">
                <a:solidFill>
                  <a:srgbClr val="555555"/>
                </a:solidFill>
              </a:defRPr>
            </a:pPr>
            <a:r>
              <a:t>Output: embedding 128-d normalizzato nello spazio metrico</a:t>
            </a:r>
          </a:p>
          <a:p>
            <a:pPr>
              <a:spcAft>
                <a:spcPts val="800"/>
              </a:spcAft>
              <a:defRPr sz="1700">
                <a:solidFill>
                  <a:srgbClr val="555555"/>
                </a:solidFill>
              </a:defRPr>
            </a:pPr>
            <a:r>
              <a:t>Training: Supervised Contrastive Loss → stessa classe = positivi</a:t>
            </a:r>
          </a:p>
          <a:p>
            <a:pPr>
              <a:spcAft>
                <a:spcPts val="800"/>
              </a:spcAft>
              <a:defRPr sz="1700">
                <a:solidFill>
                  <a:srgbClr val="555555"/>
                </a:solidFill>
              </a:defRPr>
            </a:pPr>
            <a:r>
              <a:t>Evaluation: FAISS nearest-neighbor → acc@1, mAP, recall@K</a:t>
            </a:r>
          </a:p>
          <a:p>
            <a:pPr>
              <a:spcAft>
                <a:spcPts val="800"/>
              </a:spcAft>
              <a:defRPr sz="1700">
                <a:solidFill>
                  <a:srgbClr val="555555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555555"/>
                </a:solidFill>
              </a:defRPr>
            </a:pPr>
            <a:r>
              <a:t>Modelli confrontati:</a:t>
            </a:r>
          </a:p>
          <a:p>
            <a:pPr lvl="1">
              <a:spcAft>
                <a:spcPts val="800"/>
              </a:spcAft>
              <a:defRPr sz="1500">
                <a:solidFill>
                  <a:srgbClr val="555555"/>
                </a:solidFill>
              </a:defRPr>
            </a:pPr>
            <a:r>
              <a:t>Baseline CNN (ResNet-18) — solo pixel</a:t>
            </a:r>
          </a:p>
          <a:p>
            <a:pPr lvl="1">
              <a:spcAft>
                <a:spcPts val="800"/>
              </a:spcAft>
              <a:defRPr sz="1500">
                <a:solidFill>
                  <a:srgbClr val="555555"/>
                </a:solidFill>
              </a:defRPr>
            </a:pPr>
            <a:r>
              <a:t>GCN — topologia del grafo</a:t>
            </a:r>
          </a:p>
          <a:p>
            <a:pPr lvl="1">
              <a:spcAft>
                <a:spcPts val="800"/>
              </a:spcAft>
              <a:defRPr sz="1500">
                <a:solidFill>
                  <a:srgbClr val="555555"/>
                </a:solidFill>
              </a:defRPr>
            </a:pPr>
            <a:r>
              <a:t>GINE — topologia + tipo semantico delle relazioni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37960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55555"/>
                </a:solidFill>
              </a:defRPr>
            </a:pPr>
            <a:r>
              <a:t>G18 · Track 3 · Graph-based Metric Learning for Scene Understanding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GQA: 30% del dataset, 14 classi sceniche via CLIP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17320"/>
          <a:ext cx="804672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645920"/>
                <a:gridCol w="502920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Split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Campioni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Contenuto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555555"/>
                          </a:solidFill>
                        </a:defRPr>
                      </a:pPr>
                      <a:r>
                        <a:t>Train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555555"/>
                          </a:solidFill>
                        </a:defRPr>
                      </a:pPr>
                      <a:r>
                        <a:t>~22.482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555555"/>
                          </a:solidFill>
                        </a:defRPr>
                      </a:pPr>
                      <a:r>
                        <a:t>Scene graphs + immagini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555555"/>
                          </a:solidFill>
                        </a:defRPr>
                      </a:pPr>
                      <a:r>
                        <a:t>Val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555555"/>
                          </a:solidFill>
                        </a:defRPr>
                      </a:pPr>
                      <a:r>
                        <a:t>~3.208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555555"/>
                          </a:solidFill>
                        </a:defRPr>
                      </a:pPr>
                      <a:r>
                        <a:t>Retrieval evaluation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20040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Etichette generate con CLIP (ViT-B/32) e 14 prompt (kitchen, bedroom, beach…)</a:t>
            </a:r>
          </a:p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Grafo: nodi = tipo oggetto + bbox normalizzata; archi = relazioni GQA bidirezionali</a:t>
            </a:r>
          </a:p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Classi sbilanciate → BalancedBatchSampler (N classi × 4 campioni per batch)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55555"/>
                </a:solidFill>
              </a:defRPr>
            </a:pPr>
            <a:r>
              <a:t>G18 · Track 3 · Graph-based Metric Learning for Scene Understanding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Pipeline end-to-end: dal grafo all'embedding metrico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7680960" cy="330573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30352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555555"/>
                </a:solidFill>
              </a:defRPr>
            </a:pPr>
            <a:r>
              <a:t>Codice riproducibile in src/ · config YAML · checkpoint con vocabolari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55555"/>
                </a:solidFill>
              </a:defRPr>
            </a:pPr>
            <a:r>
              <a:t>G18 · Track 3 · Graph-based Metric Learning for Scene Understanding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Tre encoder, stesso obiettivo metrico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17320"/>
          <a:ext cx="73152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828800"/>
                <a:gridCol w="3200400"/>
                <a:gridCol w="1097280"/>
              </a:tblGrid>
              <a:tr h="480060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Modello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Input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Architettura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Embedding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555555"/>
                          </a:solidFill>
                        </a:defRPr>
                      </a:pPr>
                      <a:r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555555"/>
                          </a:solidFill>
                        </a:defRPr>
                      </a:pPr>
                      <a:r>
                        <a:t>Immagine 224²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555555"/>
                          </a:solidFill>
                        </a:defRPr>
                      </a:pPr>
                      <a:r>
                        <a:t>ResNet-18 → FC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555555"/>
                          </a:solidFill>
                        </a:defRPr>
                      </a:pPr>
                      <a:r>
                        <a:t>128-d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555555"/>
                          </a:solidFill>
                        </a:defRPr>
                      </a:pPr>
                      <a:r>
                        <a:t>GCN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555555"/>
                          </a:solidFill>
                        </a:defRPr>
                      </a:pPr>
                      <a:r>
                        <a:t>Grafo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555555"/>
                          </a:solidFill>
                        </a:defRPr>
                      </a:pPr>
                      <a:r>
                        <a:t>3× GCNConv + pool mean/max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555555"/>
                          </a:solidFill>
                        </a:defRPr>
                      </a:pPr>
                      <a:r>
                        <a:t>128-d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555555"/>
                          </a:solidFill>
                        </a:defRPr>
                      </a:pPr>
                      <a:r>
                        <a:t>GINE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555555"/>
                          </a:solidFill>
                        </a:defRPr>
                      </a:pPr>
                      <a:r>
                        <a:t>Grafo + edge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555555"/>
                          </a:solidFill>
                        </a:defRPr>
                      </a:pPr>
                      <a:r>
                        <a:t>4× GINEConv + pool mean/max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555555"/>
                          </a:solidFill>
                        </a:defRPr>
                      </a:pPr>
                      <a:r>
                        <a:t>128-d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8404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555555"/>
                </a:solidFill>
              </a:defRPr>
            </a:pPr>
            <a:r>
              <a:t>Loss: Supervised Contrastive (τ=0.07 GNN, τ=0.1 baseline)</a:t>
            </a:r>
          </a:p>
          <a:p>
            <a:pPr>
              <a:spcAft>
                <a:spcPts val="800"/>
              </a:spcAft>
              <a:defRPr sz="1500">
                <a:solidFill>
                  <a:srgbClr val="555555"/>
                </a:solidFill>
              </a:defRPr>
            </a:pPr>
            <a:r>
              <a:t>Optimizer: Adam + CosineAnnealing · 20 epoch GNN · grad clipping</a:t>
            </a:r>
          </a:p>
          <a:p>
            <a:pPr>
              <a:spcAft>
                <a:spcPts val="800"/>
              </a:spcAft>
              <a:defRPr sz="1500">
                <a:solidFill>
                  <a:srgbClr val="555555"/>
                </a:solidFill>
              </a:defRPr>
            </a:pPr>
            <a:r>
              <a:t>Contributo originale: pipeline completa, balanced sampling, eval FAISS, analisi extra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55555"/>
                </a:solidFill>
              </a:defRPr>
            </a:pPr>
            <a:r>
              <a:t>G18 · Track 3 · Graph-based Metric Learning for Scene Understanding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Il GCN supera GINE sul retrieval con grafo intatto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4754880" cy="269014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394960" y="1828800"/>
          <a:ext cx="256032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822960"/>
                <a:gridCol w="82296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Modello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acc@1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mAP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555555"/>
                          </a:solidFill>
                        </a:defRPr>
                      </a:pPr>
                      <a:r>
                        <a:t>GCN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555555"/>
                          </a:solidFill>
                        </a:defRPr>
                      </a:pPr>
                      <a:r>
                        <a:t>59.7%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555555"/>
                          </a:solidFill>
                        </a:defRPr>
                      </a:pPr>
                      <a:r>
                        <a:t>65.9%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555555"/>
                          </a:solidFill>
                        </a:defRPr>
                      </a:pPr>
                      <a:r>
                        <a:t>GINE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555555"/>
                          </a:solidFill>
                        </a:defRPr>
                      </a:pPr>
                      <a:r>
                        <a:t>49.9%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555555"/>
                          </a:solidFill>
                        </a:defRPr>
                      </a:pPr>
                      <a:r>
                        <a:t>57.8%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394960" y="3840480"/>
            <a:ext cx="3200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55555"/>
                </a:solidFill>
              </a:defRPr>
            </a:pPr>
            <a:r>
              <a:t>GCN più semplice converge meglio</a:t>
            </a:r>
            <a:br/>
            <a:r>
              <a:t>su subset ridotto e vocabolario</a:t>
            </a:r>
            <a:br/>
            <a:r>
              <a:t>relazioni sparso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37960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55555"/>
                </a:solidFill>
              </a:defRPr>
            </a:pPr>
            <a:r>
              <a:t>G18 · Track 3 · Graph-based Metric Learning for Scene Understanding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Il GCN degrada gradualmente anche con il 70% dei nodi rimossi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9688"/>
                </a:solidFill>
              </a:defRPr>
            </a:pPr>
            <a:r>
              <a:t>Extra Objective: robustezza alle perturbazioni strutturali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5029200" cy="28453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60720" y="182880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555555"/>
                </a:solidFill>
              </a:defRPr>
            </a:pPr>
            <a:r>
              <a:t>Simuliamo scene graph incompleti (drop nodi + archi)</a:t>
            </a:r>
          </a:p>
          <a:p>
            <a:pPr>
              <a:spcAft>
                <a:spcPts val="800"/>
              </a:spcAft>
              <a:defRPr sz="1400">
                <a:solidFill>
                  <a:srgbClr val="555555"/>
                </a:solidFill>
              </a:defRPr>
            </a:pPr>
            <a:r>
              <a:t>GCN acc@1 &gt; 45% anche a 70% perturbazione</a:t>
            </a:r>
          </a:p>
          <a:p>
            <a:pPr>
              <a:spcAft>
                <a:spcPts val="800"/>
              </a:spcAft>
              <a:defRPr sz="1400">
                <a:solidFill>
                  <a:srgbClr val="555555"/>
                </a:solidFill>
              </a:defRPr>
            </a:pPr>
            <a:r>
              <a:t>GINE più sensibile: dipende dalle edge feature eliminate</a:t>
            </a:r>
          </a:p>
          <a:p>
            <a:pPr>
              <a:spcAft>
                <a:spcPts val="800"/>
              </a:spcAft>
              <a:defRPr sz="1400">
                <a:solidFill>
                  <a:srgbClr val="555555"/>
                </a:solidFill>
              </a:defRPr>
            </a:pPr>
            <a:r>
              <a:t>Interpretabilità: Grad-CAM, GNNExplainer, focal point (*to the left of*)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37960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55555"/>
                </a:solidFill>
              </a:defRPr>
            </a:pPr>
            <a:r>
              <a:t>G18 · Track 3 · Graph-based Metric Learning for Scene Understanding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Dove il modello fatica: failure case tipici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555555"/>
                </a:solidFill>
              </a:defRPr>
            </a:pPr>
            <a:r>
              <a:t>Confusione tra classi visivamente simili (es. living room vs bedroom)</a:t>
            </a:r>
          </a:p>
          <a:p>
            <a:pPr>
              <a:spcAft>
                <a:spcPts val="800"/>
              </a:spcAft>
              <a:defRPr sz="1700" b="1">
                <a:solidFill>
                  <a:srgbClr val="555555"/>
                </a:solidFill>
              </a:defRPr>
            </a:pPr>
            <a:r>
              <a:t>Etichette CLIP rumorose → positivi/contrastivi inconsistenti nel batch</a:t>
            </a:r>
          </a:p>
          <a:p>
            <a:pPr>
              <a:spcAft>
                <a:spcPts val="800"/>
              </a:spcAft>
              <a:defRPr sz="1700" b="1">
                <a:solidFill>
                  <a:srgbClr val="555555"/>
                </a:solidFill>
              </a:defRPr>
            </a:pPr>
            <a:r>
              <a:t>Scene con pochi oggetti → grafi quasi vuoti, embedding poco informativi</a:t>
            </a:r>
          </a:p>
          <a:p>
            <a:pPr>
              <a:spcAft>
                <a:spcPts val="800"/>
              </a:spcAft>
              <a:defRPr sz="1700" b="1">
                <a:solidFill>
                  <a:srgbClr val="555555"/>
                </a:solidFill>
              </a:defRPr>
            </a:pPr>
            <a:r>
              <a:t>Classi rare sotto-rappresentate nonostante balanced sampling parziale</a:t>
            </a:r>
          </a:p>
          <a:p>
            <a:pPr>
              <a:spcAft>
                <a:spcPts val="800"/>
              </a:spcAft>
              <a:defRPr sz="1700" b="1">
                <a:solidFill>
                  <a:srgbClr val="555555"/>
                </a:solidFill>
              </a:defRPr>
            </a:pPr>
          </a:p>
          <a:p>
            <a:pPr>
              <a:spcAft>
                <a:spcPts val="800"/>
              </a:spcAft>
              <a:defRPr sz="1700" b="1">
                <a:solidFill>
                  <a:srgbClr val="555555"/>
                </a:solidFill>
              </a:defRPr>
            </a:pPr>
            <a:r>
              <a:t>Cosa impariamo:</a:t>
            </a:r>
          </a:p>
          <a:p>
            <a:pPr>
              <a:spcAft>
                <a:spcPts val="800"/>
              </a:spcAft>
              <a:defRPr sz="1700" b="1">
                <a:solidFill>
                  <a:srgbClr val="555555"/>
                </a:solidFill>
              </a:defRPr>
            </a:pPr>
            <a:r>
              <a:t>La struttura aiuta, ma la qualità del grafo e delle label conta</a:t>
            </a:r>
          </a:p>
          <a:p>
            <a:pPr>
              <a:spcAft>
                <a:spcPts val="800"/>
              </a:spcAft>
              <a:defRPr sz="1700" b="1">
                <a:solidFill>
                  <a:srgbClr val="555555"/>
                </a:solidFill>
              </a:defRPr>
            </a:pPr>
            <a:r>
              <a:t>GINE necessita più dati/tuning per sfruttare le relazioni semantiche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37960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55555"/>
                </a:solidFill>
              </a:defRPr>
            </a:pPr>
            <a:r>
              <a:t>G18 · Track 3 · Graph-based Metric Learning for Scene Understanding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Modellare le scene come grafi abilita retrieval strutturale robusto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A365D"/>
                </a:solidFill>
              </a:defRPr>
            </a:pPr>
            <a:r>
              <a:t>Messaggio: un GCN con contrastive loss raggiunge ~60% acc@1 e resta robusto a grafi incompleti.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Takeaway 1: la topologia del grafo è segnale discriminativo per il retrieval</a:t>
            </a:r>
          </a:p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Takeaway 2: modelli più espressivi (GINE) ≠ migliori con dati limitati</a:t>
            </a:r>
          </a:p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Takeaway 3: relazioni spaziali sono focal point critici per la similarità</a:t>
            </a:r>
          </a:p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Limiti: subset 30%, label CLIP, grafi GT, baseline CNN da confrontare numericamente</a:t>
            </a:r>
          </a:p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Futuro: dataset completo, scene graph extractor automatico (VLM), tuning 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55555"/>
                </a:solidFill>
              </a:defRPr>
            </a:pPr>
            <a:r>
              <a:t>G18 · Track 3 · Graph-based Metric Learning for Scene Understanding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[Backup Q&amp;A] Iperparametri e setup sperimentale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8046720" cy="31546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3474720"/>
              </a:tblGrid>
              <a:tr h="450668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Parametro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Baseline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GCN / GINE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450668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555555"/>
                          </a:solidFill>
                        </a:defRPr>
                      </a:pPr>
                      <a:r>
                        <a:t>Embedding dim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555555"/>
                          </a:solidFill>
                        </a:defRPr>
                      </a:pPr>
                      <a:r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555555"/>
                          </a:solidFill>
                        </a:defRPr>
                      </a:pPr>
                      <a:r>
                        <a:t>128</a:t>
                      </a:r>
                    </a:p>
                  </a:txBody>
                  <a:tcPr/>
                </a:tc>
              </a:tr>
              <a:tr h="450668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555555"/>
                          </a:solidFill>
                        </a:defRPr>
                      </a:pPr>
                      <a:r>
                        <a:t>Hidden dim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555555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555555"/>
                          </a:solidFill>
                        </a:defRPr>
                      </a:pPr>
                      <a:r>
                        <a:t>256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  <a:tr h="450668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555555"/>
                          </a:solidFill>
                        </a:defRPr>
                      </a:pPr>
                      <a:r>
                        <a:t>Layers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555555"/>
                          </a:solidFill>
                        </a:defRPr>
                      </a:pPr>
                      <a:r>
                        <a:t>ResNet-18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555555"/>
                          </a:solidFill>
                        </a:defRPr>
                      </a:pPr>
                      <a:r>
                        <a:t>3 (GCN) / 4 (GINE)</a:t>
                      </a:r>
                    </a:p>
                  </a:txBody>
                  <a:tcPr/>
                </a:tc>
              </a:tr>
              <a:tr h="450668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555555"/>
                          </a:solidFill>
                        </a:defRPr>
                      </a:pPr>
                      <a:r>
                        <a:t>LR / epochs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555555"/>
                          </a:solidFill>
                        </a:defRPr>
                      </a:pPr>
                      <a:r>
                        <a:t>1e-4 / 10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555555"/>
                          </a:solidFill>
                        </a:defRPr>
                      </a:pPr>
                      <a:r>
                        <a:t>3e-4 / 20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  <a:tr h="450668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555555"/>
                          </a:solidFill>
                        </a:defRPr>
                      </a:pPr>
                      <a:r>
                        <a:t>Temperature 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555555"/>
                          </a:solidFill>
                        </a:defRPr>
                      </a:pPr>
                      <a:r>
                        <a:t>0.10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555555"/>
                          </a:solidFill>
                        </a:defRPr>
                      </a:pPr>
                      <a:r>
                        <a:t>0.07</a:t>
                      </a:r>
                    </a:p>
                  </a:txBody>
                  <a:tcPr/>
                </a:tc>
              </a:tr>
              <a:tr h="450671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555555"/>
                          </a:solidFill>
                        </a:defRPr>
                      </a:pPr>
                      <a:r>
                        <a:t>Batch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555555"/>
                          </a:solidFill>
                        </a:defRPr>
                      </a:pPr>
                      <a:r>
                        <a:t>6 cls × 4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555555"/>
                          </a:solidFill>
                        </a:defRPr>
                      </a:pPr>
                      <a:r>
                        <a:t>all cls × 4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537960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55555"/>
                </a:solidFill>
              </a:defRPr>
            </a:pPr>
            <a:r>
              <a:t>G18 · Track 3 · Graph-based Metric Learning for Scene Understanding · Backup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[Backup Q&amp;A] Robustezza completa per livello di perturbazione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658368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371600"/>
                <a:gridCol w="1371600"/>
                <a:gridCol w="1371600"/>
                <a:gridCol w="1371600"/>
              </a:tblGrid>
              <a:tr h="466344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drop%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GCN acc@1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GINE acc@1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GCN mAP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GINE mAP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555555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555555"/>
                          </a:solidFill>
                        </a:defRPr>
                      </a:pPr>
                      <a:r>
                        <a:t>59.7%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555555"/>
                          </a:solidFill>
                        </a:defRPr>
                      </a:pPr>
                      <a:r>
                        <a:t>49.9%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555555"/>
                          </a:solidFill>
                        </a:defRPr>
                      </a:pPr>
                      <a:r>
                        <a:t>65.9%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555555"/>
                          </a:solidFill>
                        </a:defRPr>
                      </a:pPr>
                      <a:r>
                        <a:t>57.8%</a:t>
                      </a:r>
                    </a:p>
                  </a:txBody>
                  <a:tcPr/>
                </a:tc>
              </a:tr>
              <a:tr h="466344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555555"/>
                          </a:solidFill>
                        </a:defRPr>
                      </a:pPr>
                      <a:r>
                        <a:t>30%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555555"/>
                          </a:solidFill>
                        </a:defRPr>
                      </a:pPr>
                      <a:r>
                        <a:t>55.9%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555555"/>
                          </a:solidFill>
                        </a:defRPr>
                      </a:pPr>
                      <a:r>
                        <a:t>45.0%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555555"/>
                          </a:solidFill>
                        </a:defRPr>
                      </a:pPr>
                      <a:r>
                        <a:t>62.4%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555555"/>
                          </a:solidFill>
                        </a:defRPr>
                      </a:pPr>
                      <a:r>
                        <a:t>53.2%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555555"/>
                          </a:solidFill>
                        </a:defRPr>
                      </a:pPr>
                      <a:r>
                        <a:t>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555555"/>
                          </a:solidFill>
                        </a:defRPr>
                      </a:pPr>
                      <a:r>
                        <a:t>51.0%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555555"/>
                          </a:solidFill>
                        </a:defRPr>
                      </a:pPr>
                      <a:r>
                        <a:t>41.5%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555555"/>
                          </a:solidFill>
                        </a:defRPr>
                      </a:pPr>
                      <a:r>
                        <a:t>58.2%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555555"/>
                          </a:solidFill>
                        </a:defRPr>
                      </a:pPr>
                      <a:r>
                        <a:t>50.5%</a:t>
                      </a:r>
                    </a:p>
                  </a:txBody>
                  <a:tcPr/>
                </a:tc>
              </a:tr>
              <a:tr h="466344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555555"/>
                          </a:solidFill>
                        </a:defRPr>
                      </a:pPr>
                      <a:r>
                        <a:t>70%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555555"/>
                          </a:solidFill>
                        </a:defRPr>
                      </a:pPr>
                      <a:r>
                        <a:t>45.1%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555555"/>
                          </a:solidFill>
                        </a:defRPr>
                      </a:pPr>
                      <a:r>
                        <a:t>35.8%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555555"/>
                          </a:solidFill>
                        </a:defRPr>
                      </a:pPr>
                      <a:r>
                        <a:t>53.0%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555555"/>
                          </a:solidFill>
                        </a:defRPr>
                      </a:pPr>
                      <a:r>
                        <a:t>45.5%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537960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55555"/>
                </a:solidFill>
              </a:defRPr>
            </a:pPr>
            <a:r>
              <a:t>G18 · Track 3 · Graph-based Metric Learning for Scene Understanding · Backup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