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70" r:id="rId3"/>
    <p:sldId id="268" r:id="rId4"/>
    <p:sldId id="259" r:id="rId5"/>
    <p:sldId id="261" r:id="rId6"/>
    <p:sldId id="272" r:id="rId7"/>
    <p:sldId id="273" r:id="rId8"/>
    <p:sldId id="258" r:id="rId9"/>
    <p:sldId id="263" r:id="rId10"/>
    <p:sldId id="275" r:id="rId11"/>
    <p:sldId id="276" r:id="rId12"/>
    <p:sldId id="278" r:id="rId13"/>
    <p:sldId id="274" r:id="rId14"/>
    <p:sldId id="277" r:id="rId15"/>
    <p:sldId id="267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951"/>
    <p:restoredTop sz="94650"/>
  </p:normalViewPr>
  <p:slideViewPr>
    <p:cSldViewPr snapToGrid="0" snapToObjects="1">
      <p:cViewPr>
        <p:scale>
          <a:sx n="128" d="100"/>
          <a:sy n="128" d="100"/>
        </p:scale>
        <p:origin x="800" y="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CA9F8E-B731-1F41-B14B-DAD304D0450F}" type="datetimeFigureOut">
              <a:rPr lang="it-IT" smtClean="0"/>
              <a:t>19/06/26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3B9327-D0A7-5649-A45A-B67BEC17EDD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805195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3B9327-D0A7-5649-A45A-B67BEC17EDDD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2262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3B9327-D0A7-5649-A45A-B67BEC17EDDD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39343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3B9327-D0A7-5649-A45A-B67BEC17EDDD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177898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3B9327-D0A7-5649-A45A-B67BEC17EDDD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570757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3B9327-D0A7-5649-A45A-B67BEC17EDDD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600297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3B9327-D0A7-5649-A45A-B67BEC17EDDD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43318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3B9327-D0A7-5649-A45A-B67BEC17EDDD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048469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3B9327-D0A7-5649-A45A-B67BEC17EDDD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205030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3B9327-D0A7-5649-A45A-B67BEC17EDDD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798509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3B9327-D0A7-5649-A45A-B67BEC17EDDD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708686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3B9327-D0A7-5649-A45A-B67BEC17EDDD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079336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LenionK/dl26-projects/tree/main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cs.stanford.edu/people/dorarad/gqa/about.html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tangolo 7">
            <a:extLst>
              <a:ext uri="{FF2B5EF4-FFF2-40B4-BE49-F238E27FC236}">
                <a16:creationId xmlns:a16="http://schemas.microsoft.com/office/drawing/2014/main" id="{489BDE29-E414-C8C6-931B-53586D4C8090}"/>
              </a:ext>
            </a:extLst>
          </p:cNvPr>
          <p:cNvSpPr/>
          <p:nvPr/>
        </p:nvSpPr>
        <p:spPr>
          <a:xfrm>
            <a:off x="-69271" y="1085445"/>
            <a:ext cx="9268691" cy="274523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extBox 1"/>
          <p:cNvSpPr txBox="1"/>
          <p:nvPr/>
        </p:nvSpPr>
        <p:spPr>
          <a:xfrm>
            <a:off x="533754" y="1578401"/>
            <a:ext cx="792444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009688"/>
                </a:solidFill>
              </a:defRPr>
            </a:pPr>
            <a:r>
              <a:rPr sz="2000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Deep Learning: Advanced Models and Methods (DL26)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754" y="2115284"/>
            <a:ext cx="806732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rPr sz="3600" dirty="0">
                <a:latin typeface="Times New Roman" panose="02020603050405020304" pitchFamily="18" charset="0"/>
                <a:ea typeface="AppleMyungjo" pitchFamily="2" charset="-127"/>
                <a:cs typeface="Times New Roman" panose="02020603050405020304" pitchFamily="18" charset="0"/>
              </a:rPr>
              <a:t>Track 3: Graph-bas</a:t>
            </a:r>
            <a:r>
              <a:rPr lang="it-IT" sz="3600" dirty="0">
                <a:latin typeface="Times New Roman" panose="02020603050405020304" pitchFamily="18" charset="0"/>
                <a:ea typeface="AppleMyungjo" pitchFamily="2" charset="-127"/>
                <a:cs typeface="Times New Roman" panose="02020603050405020304" pitchFamily="18" charset="0"/>
              </a:rPr>
              <a:t>e</a:t>
            </a:r>
            <a:r>
              <a:rPr sz="3600" dirty="0">
                <a:latin typeface="Times New Roman" panose="02020603050405020304" pitchFamily="18" charset="0"/>
                <a:ea typeface="AppleMyungjo" pitchFamily="2" charset="-127"/>
                <a:cs typeface="Times New Roman" panose="02020603050405020304" pitchFamily="18" charset="0"/>
              </a:rPr>
              <a:t>d Metric Learning</a:t>
            </a:r>
            <a:br>
              <a:rPr sz="3600" dirty="0">
                <a:latin typeface="Times New Roman" panose="02020603050405020304" pitchFamily="18" charset="0"/>
                <a:ea typeface="AppleMyungjo" pitchFamily="2" charset="-127"/>
                <a:cs typeface="Times New Roman" panose="02020603050405020304" pitchFamily="18" charset="0"/>
              </a:rPr>
            </a:br>
            <a:r>
              <a:rPr sz="3600" dirty="0">
                <a:latin typeface="Times New Roman" panose="02020603050405020304" pitchFamily="18" charset="0"/>
                <a:ea typeface="AppleMyungjo" pitchFamily="2" charset="-127"/>
                <a:cs typeface="Times New Roman" panose="02020603050405020304" pitchFamily="18" charset="0"/>
              </a:rPr>
              <a:t>for Scene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8068" y="5110835"/>
            <a:ext cx="3068212" cy="9848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FFFFF"/>
                </a:solidFill>
              </a:defRPr>
            </a:pPr>
            <a:r>
              <a:rPr dirty="0">
                <a:solidFill>
                  <a:schemeClr val="accent2">
                    <a:lumMod val="5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  <a:cs typeface="Times New Roman" panose="02020603050405020304" pitchFamily="18" charset="0"/>
              </a:rPr>
              <a:t>Gruppo: G18</a:t>
            </a:r>
          </a:p>
          <a:p>
            <a:pPr>
              <a:spcAft>
                <a:spcPts val="600"/>
              </a:spcAft>
              <a:defRPr sz="1400" b="0">
                <a:solidFill>
                  <a:srgbClr val="009688"/>
                </a:solidFill>
              </a:defRPr>
            </a:pPr>
            <a:r>
              <a:rPr sz="1600" dirty="0" err="1">
                <a:solidFill>
                  <a:schemeClr val="accent2">
                    <a:lumMod val="5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Membri</a:t>
            </a:r>
            <a:r>
              <a:rPr sz="1600" dirty="0">
                <a:solidFill>
                  <a:schemeClr val="accent2">
                    <a:lumMod val="5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: [</a:t>
            </a:r>
            <a:r>
              <a:rPr lang="it-IT" sz="1600" dirty="0">
                <a:solidFill>
                  <a:schemeClr val="accent2">
                    <a:lumMod val="5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Salvatore Mario Carota</a:t>
            </a:r>
            <a:r>
              <a:rPr sz="1600" dirty="0">
                <a:solidFill>
                  <a:schemeClr val="accent2">
                    <a:lumMod val="5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]</a:t>
            </a:r>
          </a:p>
          <a:p>
            <a:pPr>
              <a:spcAft>
                <a:spcPts val="600"/>
              </a:spcAft>
              <a:defRPr sz="1400" b="0">
                <a:solidFill>
                  <a:srgbClr val="009688"/>
                </a:solidFill>
              </a:defRPr>
            </a:pPr>
            <a:endParaRPr sz="1600" dirty="0">
              <a:solidFill>
                <a:schemeClr val="accent2">
                  <a:lumMod val="50000"/>
                </a:schemeClr>
              </a:solidFill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B0D7217-19E0-A08C-E188-6AAA68F88C3F}"/>
              </a:ext>
            </a:extLst>
          </p:cNvPr>
          <p:cNvSpPr txBox="1"/>
          <p:nvPr/>
        </p:nvSpPr>
        <p:spPr>
          <a:xfrm>
            <a:off x="4728310" y="5110835"/>
            <a:ext cx="406249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FFFFF"/>
                </a:solidFill>
              </a:defRPr>
            </a:pPr>
            <a:r>
              <a:rPr lang="it-IT" dirty="0">
                <a:solidFill>
                  <a:schemeClr val="accent2">
                    <a:lumMod val="5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Repository:</a:t>
            </a:r>
          </a:p>
          <a:p>
            <a:pPr>
              <a:spcAft>
                <a:spcPts val="600"/>
              </a:spcAft>
              <a:defRPr sz="1400" b="0">
                <a:solidFill>
                  <a:srgbClr val="009688"/>
                </a:solidFill>
              </a:defRPr>
            </a:pPr>
            <a:r>
              <a:rPr lang="it-IT" sz="1600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  <a:hlinkClick r:id="rId2"/>
              </a:rPr>
              <a:t>https://</a:t>
            </a:r>
            <a:r>
              <a:rPr lang="it-IT" sz="1600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  <a:hlinkClick r:id="rId2"/>
              </a:rPr>
              <a:t>github.com</a:t>
            </a:r>
            <a:r>
              <a:rPr lang="it-IT" sz="1600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  <a:hlinkClick r:id="rId2"/>
              </a:rPr>
              <a:t>/</a:t>
            </a:r>
            <a:r>
              <a:rPr lang="it-IT" sz="1600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  <a:hlinkClick r:id="rId2"/>
              </a:rPr>
              <a:t>LenionK</a:t>
            </a:r>
            <a:r>
              <a:rPr lang="it-IT" sz="1600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  <a:hlinkClick r:id="rId2"/>
              </a:rPr>
              <a:t>/dl26-projects</a:t>
            </a:r>
            <a:endParaRPr lang="it-IT" sz="1600" dirty="0">
              <a:solidFill>
                <a:schemeClr val="accent2">
                  <a:lumMod val="40000"/>
                  <a:lumOff val="60000"/>
                </a:schemeClr>
              </a:solidFill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CC0D53EF-2C28-A3C2-24DF-CDB7399A065C}"/>
              </a:ext>
            </a:extLst>
          </p:cNvPr>
          <p:cNvSpPr/>
          <p:nvPr/>
        </p:nvSpPr>
        <p:spPr>
          <a:xfrm>
            <a:off x="4609070" y="5055932"/>
            <a:ext cx="119240" cy="77152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526B215B-B528-6C15-C694-667FDBE739E9}"/>
              </a:ext>
            </a:extLst>
          </p:cNvPr>
          <p:cNvSpPr/>
          <p:nvPr/>
        </p:nvSpPr>
        <p:spPr>
          <a:xfrm>
            <a:off x="628828" y="5055932"/>
            <a:ext cx="119240" cy="77152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tangolo 8">
            <a:extLst>
              <a:ext uri="{FF2B5EF4-FFF2-40B4-BE49-F238E27FC236}">
                <a16:creationId xmlns:a16="http://schemas.microsoft.com/office/drawing/2014/main" id="{DCA083CF-505F-7DBF-E1A7-B91F9EEF519C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382597"/>
            <a:ext cx="82296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sz="3000" b="1" i="0" u="none" strike="noStrike" dirty="0">
                <a:solidFill>
                  <a:srgbClr val="FFFFFF"/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From Pixels to </a:t>
            </a:r>
            <a:r>
              <a:rPr lang="it-IT" sz="3000" b="1" i="0" u="none" strike="noStrike" dirty="0" err="1">
                <a:solidFill>
                  <a:srgbClr val="FFFFFF"/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Graphs</a:t>
            </a:r>
            <a:r>
              <a:rPr lang="it-IT" sz="3000" b="1" i="0" u="none" strike="noStrike" dirty="0">
                <a:solidFill>
                  <a:srgbClr val="FFFFFF"/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: </a:t>
            </a:r>
            <a:r>
              <a:rPr lang="it-IT" sz="3000" b="1" i="0" u="none" strike="noStrike" dirty="0" err="1">
                <a:solidFill>
                  <a:srgbClr val="FFFFFF"/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Representing</a:t>
            </a:r>
            <a:r>
              <a:rPr lang="it-IT" sz="3000" b="1" i="0" u="none" strike="noStrike" dirty="0">
                <a:solidFill>
                  <a:srgbClr val="FFFFFF"/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Scenes </a:t>
            </a:r>
            <a:r>
              <a:rPr lang="it-IT" sz="3000" b="1" i="0" u="none" strike="noStrike" dirty="0" err="1">
                <a:solidFill>
                  <a:srgbClr val="FFFFFF"/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as</a:t>
            </a:r>
            <a:r>
              <a:rPr lang="it-IT" sz="3000" b="1" i="0" u="none" strike="noStrike" dirty="0">
                <a:solidFill>
                  <a:srgbClr val="FFFFFF"/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sz="3000" b="1" i="0" u="none" strike="noStrike" dirty="0" err="1">
                <a:solidFill>
                  <a:srgbClr val="FFFFFF"/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Structured</a:t>
            </a:r>
            <a:r>
              <a:rPr lang="it-IT" sz="3000" b="1" i="0" u="none" strike="noStrike" dirty="0">
                <a:solidFill>
                  <a:srgbClr val="FFFFFF"/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Data</a:t>
            </a:r>
            <a:endParaRPr lang="it-IT" sz="3000" b="1" dirty="0"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  <p:pic>
        <p:nvPicPr>
          <p:cNvPr id="2" name="Immagine 1" descr="Immagine che contiene testo, arredo, tavolo, sedia&#10;&#10;Descrizione generata automaticamente">
            <a:extLst>
              <a:ext uri="{FF2B5EF4-FFF2-40B4-BE49-F238E27FC236}">
                <a16:creationId xmlns:a16="http://schemas.microsoft.com/office/drawing/2014/main" id="{D3DA32F0-819E-C8DD-A9C3-BB0E264B1F0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155" b="-1713"/>
          <a:stretch/>
        </p:blipFill>
        <p:spPr>
          <a:xfrm>
            <a:off x="685800" y="2073797"/>
            <a:ext cx="7772400" cy="39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344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CD0934DA-CB1E-F197-7F97-ACDDBAC4D890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TextBox 2"/>
          <p:cNvSpPr txBox="1"/>
          <p:nvPr/>
        </p:nvSpPr>
        <p:spPr>
          <a:xfrm>
            <a:off x="457199" y="578068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sz="3000" b="1" i="0" u="none" strike="noStrike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GQA: Visual Reasoning in the Real World</a:t>
            </a:r>
            <a:endParaRPr lang="it-IT" sz="3000" b="1" i="0" u="none" strike="noStrike" dirty="0">
              <a:solidFill>
                <a:schemeClr val="bg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DF689D21-051B-B69C-1CB5-FD6E0C9D75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425" y="2377441"/>
            <a:ext cx="8723149" cy="3442424"/>
          </a:xfrm>
          <a:prstGeom prst="rect">
            <a:avLst/>
          </a:prstGeom>
        </p:spPr>
      </p:pic>
      <p:sp>
        <p:nvSpPr>
          <p:cNvPr id="10" name="TextBox 5">
            <a:extLst>
              <a:ext uri="{FF2B5EF4-FFF2-40B4-BE49-F238E27FC236}">
                <a16:creationId xmlns:a16="http://schemas.microsoft.com/office/drawing/2014/main" id="{97E41CED-EEE5-6309-D795-475AB25C2602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</p:spTree>
    <p:extLst>
      <p:ext uri="{BB962C8B-B14F-4D97-AF65-F5344CB8AC3E}">
        <p14:creationId xmlns:p14="http://schemas.microsoft.com/office/powerpoint/2010/main" val="4062410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ttangolo 11">
            <a:extLst>
              <a:ext uri="{FF2B5EF4-FFF2-40B4-BE49-F238E27FC236}">
                <a16:creationId xmlns:a16="http://schemas.microsoft.com/office/drawing/2014/main" id="{6E7C60D0-BE8A-1E28-1873-AB36FB1F9B4D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pic>
        <p:nvPicPr>
          <p:cNvPr id="8" name="Immagine 7" descr="Immagine che contiene testo, schermata, Diagramma, linea&#10;&#10;Descrizione generata automaticamente">
            <a:extLst>
              <a:ext uri="{FF2B5EF4-FFF2-40B4-BE49-F238E27FC236}">
                <a16:creationId xmlns:a16="http://schemas.microsoft.com/office/drawing/2014/main" id="{9885B957-11CE-EA3F-FAC6-66448AF5AAF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7332" r="47084" b="2804"/>
          <a:stretch/>
        </p:blipFill>
        <p:spPr>
          <a:xfrm>
            <a:off x="2711312" y="1931794"/>
            <a:ext cx="6300000" cy="450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47235"/>
            <a:ext cx="82296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sz="3000" u="none" strike="noStrike" dirty="0" err="1">
                <a:solidFill>
                  <a:srgbClr val="FFFFFF"/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Bridging</a:t>
            </a:r>
            <a:r>
              <a:rPr lang="it-IT" sz="3000" u="none" strike="noStrike" dirty="0">
                <a:solidFill>
                  <a:srgbClr val="FFFFFF"/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the Gap: </a:t>
            </a:r>
            <a:r>
              <a:rPr lang="it-IT" sz="3000" u="none" strike="noStrike" dirty="0" err="1">
                <a:solidFill>
                  <a:srgbClr val="FFFFFF"/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Automatic</a:t>
            </a:r>
            <a:r>
              <a:rPr lang="it-IT" sz="3000" u="none" strike="noStrike" dirty="0">
                <a:solidFill>
                  <a:srgbClr val="FFFFFF"/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sz="3000" u="none" strike="noStrike" dirty="0" err="1">
                <a:solidFill>
                  <a:srgbClr val="FFFFFF"/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Labeling</a:t>
            </a:r>
            <a:r>
              <a:rPr lang="it-IT" sz="3000" u="none" strike="noStrike" dirty="0">
                <a:solidFill>
                  <a:srgbClr val="FFFFFF"/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via CLIP</a:t>
            </a:r>
            <a:endParaRPr sz="3000" dirty="0">
              <a:latin typeface="Baskerville" panose="02020502070401020303" pitchFamily="18" charset="0"/>
              <a:ea typeface="Baskerville" panose="02020502070401020303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1" name="Tabella 10">
            <a:extLst>
              <a:ext uri="{FF2B5EF4-FFF2-40B4-BE49-F238E27FC236}">
                <a16:creationId xmlns:a16="http://schemas.microsoft.com/office/drawing/2014/main" id="{F7887584-59F0-8EF5-B9F7-1E80FFAD6E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8632605"/>
              </p:ext>
            </p:extLst>
          </p:nvPr>
        </p:nvGraphicFramePr>
        <p:xfrm>
          <a:off x="457200" y="2089418"/>
          <a:ext cx="2031192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1192">
                  <a:extLst>
                    <a:ext uri="{9D8B030D-6E8A-4147-A177-3AD203B41FA5}">
                      <a16:colId xmlns:a16="http://schemas.microsoft.com/office/drawing/2014/main" val="34446320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it-IT" b="1" dirty="0"/>
                        <a:t>Classi di Partenza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728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Interni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98612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Urbano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47726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Natura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4041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Cibo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0710965"/>
                  </a:ext>
                </a:extLst>
              </a:tr>
            </a:tbl>
          </a:graphicData>
        </a:graphic>
      </p:graphicFrame>
      <p:sp>
        <p:nvSpPr>
          <p:cNvPr id="13" name="TextBox 5">
            <a:extLst>
              <a:ext uri="{FF2B5EF4-FFF2-40B4-BE49-F238E27FC236}">
                <a16:creationId xmlns:a16="http://schemas.microsoft.com/office/drawing/2014/main" id="{3E61655E-8FDA-F6D2-BE57-08D052C56293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ttangolo 15">
            <a:extLst>
              <a:ext uri="{FF2B5EF4-FFF2-40B4-BE49-F238E27FC236}">
                <a16:creationId xmlns:a16="http://schemas.microsoft.com/office/drawing/2014/main" id="{ADEBFC1F-ABB5-033D-E24A-7D0693DA2774}"/>
              </a:ext>
            </a:extLst>
          </p:cNvPr>
          <p:cNvSpPr/>
          <p:nvPr/>
        </p:nvSpPr>
        <p:spPr>
          <a:xfrm>
            <a:off x="2129454" y="4570543"/>
            <a:ext cx="4885084" cy="140287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98704AE6-40EE-47D4-DD52-6BBCF5FAA930}"/>
              </a:ext>
            </a:extLst>
          </p:cNvPr>
          <p:cNvSpPr/>
          <p:nvPr/>
        </p:nvSpPr>
        <p:spPr>
          <a:xfrm>
            <a:off x="2129455" y="4445604"/>
            <a:ext cx="4885084" cy="48417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E70E964E-FA8C-4B36-C6B9-78D99B421F9E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3008876"/>
              </p:ext>
            </p:extLst>
          </p:nvPr>
        </p:nvGraphicFramePr>
        <p:xfrm>
          <a:off x="698157" y="2188656"/>
          <a:ext cx="7747685" cy="17754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89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369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96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21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 dirty="0" err="1"/>
                        <a:t>Modello</a:t>
                      </a:r>
                      <a:endParaRPr sz="1600" dirty="0"/>
                    </a:p>
                  </a:txBody>
                  <a:tcP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 dirty="0"/>
                        <a:t>Input</a:t>
                      </a:r>
                    </a:p>
                  </a:txBody>
                  <a:tcP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 dirty="0" err="1"/>
                        <a:t>Architettura</a:t>
                      </a:r>
                      <a:endParaRPr sz="1600" dirty="0"/>
                    </a:p>
                  </a:txBody>
                  <a:tcP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 dirty="0"/>
                        <a:t>Embedding</a:t>
                      </a:r>
                    </a:p>
                  </a:txBody>
                  <a:tcPr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/>
                        <a:t>Baseline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 err="1"/>
                        <a:t>Immagine</a:t>
                      </a:r>
                      <a:endParaRPr sz="1600" dirty="0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/>
                        <a:t>ResNet-18 → FC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/>
                        <a:t>128-d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/>
                        <a:t>GCN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 err="1"/>
                        <a:t>Grafo</a:t>
                      </a:r>
                      <a:endParaRPr sz="16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/>
                        <a:t>3× </a:t>
                      </a:r>
                      <a:r>
                        <a:rPr sz="1600" dirty="0" err="1"/>
                        <a:t>GCNConv</a:t>
                      </a:r>
                      <a:r>
                        <a:rPr sz="1600" dirty="0"/>
                        <a:t> + pool mean/max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/>
                        <a:t>128-d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/>
                        <a:t>GINE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 err="1"/>
                        <a:t>Grafo</a:t>
                      </a:r>
                      <a:r>
                        <a:rPr sz="1600" dirty="0"/>
                        <a:t> + edge type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/>
                        <a:t>4× </a:t>
                      </a:r>
                      <a:r>
                        <a:rPr sz="1600" dirty="0" err="1"/>
                        <a:t>GINEConv</a:t>
                      </a:r>
                      <a:r>
                        <a:rPr sz="1600" dirty="0"/>
                        <a:t> + pool mean/max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/>
                        <a:t>128-d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457198" y="578068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sz="3000" dirty="0">
                <a:latin typeface="Baskerville" panose="02020502070401020303" pitchFamily="18" charset="0"/>
                <a:ea typeface="Baskerville" panose="02020502070401020303" pitchFamily="18" charset="0"/>
              </a:rPr>
              <a:t>Tre encoder, </a:t>
            </a:r>
            <a:r>
              <a:rPr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stesso</a:t>
            </a:r>
            <a:r>
              <a:rPr sz="3000" dirty="0"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obiettivo</a:t>
            </a:r>
            <a:r>
              <a:rPr sz="3000" dirty="0"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metrico</a:t>
            </a:r>
            <a:endParaRPr sz="3000" dirty="0"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EF0258E7-6672-2295-E26F-06F8E56CACB8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EE6CFEAB-4830-27EE-DBF4-89E139FF2391}"/>
              </a:ext>
            </a:extLst>
          </p:cNvPr>
          <p:cNvSpPr txBox="1"/>
          <p:nvPr/>
        </p:nvSpPr>
        <p:spPr>
          <a:xfrm>
            <a:off x="2261152" y="3234395"/>
            <a:ext cx="46216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591D082B-E472-366B-62A0-2404D5DC6CB2}"/>
              </a:ext>
            </a:extLst>
          </p:cNvPr>
          <p:cNvSpPr txBox="1"/>
          <p:nvPr/>
        </p:nvSpPr>
        <p:spPr>
          <a:xfrm>
            <a:off x="3156878" y="4503025"/>
            <a:ext cx="28302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i="0" u="none" strike="noStrike" dirty="0" err="1">
                <a:solidFill>
                  <a:schemeClr val="bg1"/>
                </a:solidFill>
                <a:effectLst/>
                <a:latin typeface="-webkit-standard"/>
              </a:rPr>
              <a:t>Supervised</a:t>
            </a:r>
            <a:r>
              <a:rPr lang="it-IT" b="1" i="0" u="none" strike="noStrike" dirty="0">
                <a:solidFill>
                  <a:schemeClr val="bg1"/>
                </a:solidFill>
                <a:effectLst/>
                <a:latin typeface="-webkit-standard"/>
              </a:rPr>
              <a:t> Contrastive Loss</a:t>
            </a:r>
            <a:endParaRPr lang="it-IT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CasellaDiTesto 13">
                <a:extLst>
                  <a:ext uri="{FF2B5EF4-FFF2-40B4-BE49-F238E27FC236}">
                    <a16:creationId xmlns:a16="http://schemas.microsoft.com/office/drawing/2014/main" id="{3A70120B-C001-F097-7C61-77CF251433EB}"/>
                  </a:ext>
                </a:extLst>
              </p:cNvPr>
              <p:cNvSpPr txBox="1"/>
              <p:nvPr/>
            </p:nvSpPr>
            <p:spPr>
              <a:xfrm>
                <a:off x="2196827" y="5009855"/>
                <a:ext cx="4750339" cy="8145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r>
                        <m:rPr>
                          <m:nor/>
                        </m:rPr>
                        <a:rPr lang="it-IT"/>
                        <m:t> = - </m:t>
                      </m:r>
                      <m:f>
                        <m:fPr>
                          <m:ctrlPr>
                            <a:rPr lang="it-IT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m:rPr>
                          <m:nor/>
                        </m:rPr>
                        <a:rPr lang="it-IT"/>
                        <m:t> </m:t>
                      </m:r>
                      <m:nary>
                        <m:naryPr>
                          <m:chr m:val="∑"/>
                          <m:ctrlPr>
                            <a:rPr lang="it-IT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it-IT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lang="it-IT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)|</m:t>
                              </m:r>
                            </m:den>
                          </m:f>
                        </m:e>
                      </m:nary>
                      <m:r>
                        <m:rPr>
                          <m:nor/>
                        </m:rPr>
                        <a:rPr lang="it-IT"/>
                        <m:t> </m:t>
                      </m:r>
                      <m:nary>
                        <m:naryPr>
                          <m:chr m:val="∑"/>
                          <m:supHide m:val="on"/>
                          <m:ctrlPr>
                            <a:rPr lang="it-IT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it-IT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b>
                        <m:sup/>
                        <m:e>
                          <m:r>
                            <m:rPr>
                              <m:sty m:val="p"/>
                            </m:rPr>
                            <a:rPr lang="it-IT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f>
                            <m:f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it-IT" b="0" i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sSub>
                                <m:sSubPr>
                                  <m:ctrlPr>
                                    <a:rPr lang="it-IT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it-IT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it-IT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it-IT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it-IT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it-IT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it-IT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it-IT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num>
                            <m:den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≠</m:t>
                                  </m:r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/>
                                <m:e>
                                  <m:r>
                                    <m:rPr>
                                      <m:sty m:val="p"/>
                                    </m:rPr>
                                    <a:rPr lang="it-IT" b="0" i="0" smtClean="0"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⁡(</m:t>
                                  </m:r>
                                  <m:sSub>
                                    <m:sSubPr>
                                      <m:ctrlP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  <m:sub>
                                      <m:r>
                                        <a:rPr lang="it-IT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it-IT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it-IT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  <m:sub>
                                      <m:r>
                                        <a:rPr lang="it-IT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𝜏</m:t>
                                  </m:r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nary>
                            </m:den>
                          </m:f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14" name="CasellaDiTesto 13">
                <a:extLst>
                  <a:ext uri="{FF2B5EF4-FFF2-40B4-BE49-F238E27FC236}">
                    <a16:creationId xmlns:a16="http://schemas.microsoft.com/office/drawing/2014/main" id="{3A70120B-C001-F097-7C61-77CF251433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6827" y="5009855"/>
                <a:ext cx="4750339" cy="814582"/>
              </a:xfrm>
              <a:prstGeom prst="rect">
                <a:avLst/>
              </a:prstGeom>
              <a:blipFill>
                <a:blip r:embed="rId2"/>
                <a:stretch>
                  <a:fillRect l="-532" t="-106154" r="-1064" b="-16153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B298CA6A-C425-ABC4-F22C-B09D55F21BB9}"/>
              </a:ext>
            </a:extLst>
          </p:cNvPr>
          <p:cNvSpPr txBox="1"/>
          <p:nvPr/>
        </p:nvSpPr>
        <p:spPr>
          <a:xfrm>
            <a:off x="477076" y="1082264"/>
            <a:ext cx="381353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1400" b="1" i="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Baseline</a:t>
            </a:r>
            <a:r>
              <a:rPr lang="it-IT" sz="1400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- </a:t>
            </a:r>
            <a:r>
              <a:rPr lang="it-IT" sz="1400" b="1" i="0" dirty="0" err="1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Graph</a:t>
            </a:r>
            <a:r>
              <a:rPr lang="it-IT" sz="1400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- </a:t>
            </a:r>
            <a:r>
              <a:rPr lang="it-IT" sz="1400" b="1" i="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Contrastive Training</a:t>
            </a:r>
            <a:endParaRPr lang="it-IT" sz="1400" b="0" i="0" dirty="0">
              <a:solidFill>
                <a:schemeClr val="accent2">
                  <a:lumMod val="40000"/>
                  <a:lumOff val="60000"/>
                </a:schemeClr>
              </a:solidFill>
              <a:effectLst/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tangolo 8">
            <a:extLst>
              <a:ext uri="{FF2B5EF4-FFF2-40B4-BE49-F238E27FC236}">
                <a16:creationId xmlns:a16="http://schemas.microsoft.com/office/drawing/2014/main" id="{B11CA78E-FC80-9F0B-1D62-F978D80C0F8C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TextBox 2">
            <a:extLst>
              <a:ext uri="{FF2B5EF4-FFF2-40B4-BE49-F238E27FC236}">
                <a16:creationId xmlns:a16="http://schemas.microsoft.com/office/drawing/2014/main" id="{28036D07-A17B-C301-6916-B15E3738E93B}"/>
              </a:ext>
            </a:extLst>
          </p:cNvPr>
          <p:cNvSpPr txBox="1"/>
          <p:nvPr/>
        </p:nvSpPr>
        <p:spPr>
          <a:xfrm>
            <a:off x="457200" y="578068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Training e </a:t>
            </a:r>
            <a:r>
              <a:rPr lang="it-IT" sz="3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iperparametri</a:t>
            </a:r>
            <a:r>
              <a:rPr lang="it-IT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8" name="Tabella 7">
            <a:extLst>
              <a:ext uri="{FF2B5EF4-FFF2-40B4-BE49-F238E27FC236}">
                <a16:creationId xmlns:a16="http://schemas.microsoft.com/office/drawing/2014/main" id="{38044935-0DB9-6E7C-6C40-E0F77BD962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4407994"/>
              </p:ext>
            </p:extLst>
          </p:nvPr>
        </p:nvGraphicFramePr>
        <p:xfrm>
          <a:off x="577679" y="2618850"/>
          <a:ext cx="7988642" cy="275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3956">
                  <a:extLst>
                    <a:ext uri="{9D8B030D-6E8A-4147-A177-3AD203B41FA5}">
                      <a16:colId xmlns:a16="http://schemas.microsoft.com/office/drawing/2014/main" val="3997176440"/>
                    </a:ext>
                  </a:extLst>
                </a:gridCol>
                <a:gridCol w="2987000">
                  <a:extLst>
                    <a:ext uri="{9D8B030D-6E8A-4147-A177-3AD203B41FA5}">
                      <a16:colId xmlns:a16="http://schemas.microsoft.com/office/drawing/2014/main" val="3042647182"/>
                    </a:ext>
                  </a:extLst>
                </a:gridCol>
                <a:gridCol w="3617686">
                  <a:extLst>
                    <a:ext uri="{9D8B030D-6E8A-4147-A177-3AD203B41FA5}">
                      <a16:colId xmlns:a16="http://schemas.microsoft.com/office/drawing/2014/main" val="3300564228"/>
                    </a:ext>
                  </a:extLst>
                </a:gridCol>
              </a:tblGrid>
              <a:tr h="298931"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Parametro </a:t>
                      </a:r>
                    </a:p>
                  </a:txBody>
                  <a:tcP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Baseline</a:t>
                      </a:r>
                    </a:p>
                  </a:txBody>
                  <a:tcP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GCN/GINE</a:t>
                      </a:r>
                    </a:p>
                  </a:txBody>
                  <a:tcPr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158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it-IT" sz="1800" dirty="0" err="1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Optimizer</a:t>
                      </a:r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 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Adam (</a:t>
                      </a:r>
                      <a:r>
                        <a:rPr lang="it-IT" sz="1800" dirty="0" err="1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lr</a:t>
                      </a:r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=1°-4)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Adam (</a:t>
                      </a:r>
                      <a:r>
                        <a:rPr lang="it-IT" sz="1800" dirty="0" err="1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lr</a:t>
                      </a:r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=3e-4, </a:t>
                      </a:r>
                      <a:r>
                        <a:rPr lang="it-IT" sz="1800" dirty="0" err="1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weight_decay</a:t>
                      </a:r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=1e-4)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77887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800" dirty="0" err="1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Scheduler</a:t>
                      </a:r>
                      <a:endParaRPr lang="it-IT" sz="1800" dirty="0">
                        <a:latin typeface="Baskerville" panose="02020502070401020303" pitchFamily="18" charset="0"/>
                        <a:ea typeface="Baskerville" panose="02020502070401020303" pitchFamily="18" charset="0"/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-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dirty="0" err="1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CosineAnnealingLR</a:t>
                      </a:r>
                      <a:endParaRPr lang="it-IT" sz="1800" dirty="0">
                        <a:latin typeface="Baskerville" panose="02020502070401020303" pitchFamily="18" charset="0"/>
                        <a:ea typeface="Baskerville" panose="02020502070401020303" pitchFamily="18" charset="0"/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7891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Grad clipping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-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dirty="0" err="1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Max_norm</a:t>
                      </a:r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=1.0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43356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Batch sampling 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6 classi x 4 campioni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6 classi x 4 campioni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01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800" dirty="0" err="1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Epochs</a:t>
                      </a:r>
                      <a:endParaRPr lang="it-IT" sz="1800" dirty="0">
                        <a:latin typeface="Baskerville" panose="02020502070401020303" pitchFamily="18" charset="0"/>
                        <a:ea typeface="Baskerville" panose="02020502070401020303" pitchFamily="18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10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20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3612421"/>
                  </a:ext>
                </a:extLst>
              </a:tr>
            </a:tbl>
          </a:graphicData>
        </a:graphic>
      </p:graphicFrame>
      <p:sp>
        <p:nvSpPr>
          <p:cNvPr id="10" name="TextBox 5">
            <a:extLst>
              <a:ext uri="{FF2B5EF4-FFF2-40B4-BE49-F238E27FC236}">
                <a16:creationId xmlns:a16="http://schemas.microsoft.com/office/drawing/2014/main" id="{DC29F4CB-6783-5CF8-04BD-F1406DFB2529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</p:spTree>
    <p:extLst>
      <p:ext uri="{BB962C8B-B14F-4D97-AF65-F5344CB8AC3E}">
        <p14:creationId xmlns:p14="http://schemas.microsoft.com/office/powerpoint/2010/main" val="1194307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ttangolo 18">
            <a:extLst>
              <a:ext uri="{FF2B5EF4-FFF2-40B4-BE49-F238E27FC236}">
                <a16:creationId xmlns:a16="http://schemas.microsoft.com/office/drawing/2014/main" id="{9B567F33-81DB-3BE3-F007-037FCF230204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9385676F-4E1E-CFCA-E104-754AA6856866}"/>
              </a:ext>
            </a:extLst>
          </p:cNvPr>
          <p:cNvSpPr/>
          <p:nvPr/>
        </p:nvSpPr>
        <p:spPr>
          <a:xfrm>
            <a:off x="425398" y="3053401"/>
            <a:ext cx="1597598" cy="2057400"/>
          </a:xfrm>
          <a:prstGeom prst="rect">
            <a:avLst/>
          </a:prstGeom>
          <a:noFill/>
          <a:ln w="25400">
            <a:solidFill>
              <a:srgbClr val="00B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TextBox 2"/>
          <p:cNvSpPr txBox="1"/>
          <p:nvPr/>
        </p:nvSpPr>
        <p:spPr>
          <a:xfrm>
            <a:off x="425398" y="29797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S</a:t>
            </a:r>
            <a:r>
              <a:rPr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cene</a:t>
            </a:r>
            <a:r>
              <a:rPr sz="3000" dirty="0">
                <a:latin typeface="Baskerville" panose="02020502070401020303" pitchFamily="18" charset="0"/>
                <a:ea typeface="Baskerville" panose="02020502070401020303" pitchFamily="18" charset="0"/>
              </a:rPr>
              <a:t>-</a:t>
            </a:r>
            <a:r>
              <a:rPr lang="it-IT" sz="3000" dirty="0">
                <a:latin typeface="Baskerville" panose="02020502070401020303" pitchFamily="18" charset="0"/>
                <a:ea typeface="Baskerville" panose="02020502070401020303" pitchFamily="18" charset="0"/>
              </a:rPr>
              <a:t>T</a:t>
            </a:r>
            <a:r>
              <a:rPr sz="3000" dirty="0">
                <a:latin typeface="Baskerville" panose="02020502070401020303" pitchFamily="18" charset="0"/>
                <a:ea typeface="Baskerville" panose="02020502070401020303" pitchFamily="18" charset="0"/>
              </a:rPr>
              <a:t>o-</a:t>
            </a:r>
            <a:r>
              <a:rPr lang="it-IT"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S</a:t>
            </a:r>
            <a:r>
              <a:rPr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cene</a:t>
            </a:r>
            <a:r>
              <a:rPr sz="3000" dirty="0">
                <a:latin typeface="Baskerville" panose="02020502070401020303" pitchFamily="18" charset="0"/>
                <a:ea typeface="Baskerville" panose="02020502070401020303" pitchFamily="18" charset="0"/>
              </a:rPr>
              <a:t> retrieval con metric learning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A41B4D41-1343-2811-CF13-464DE20B46B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2647" t="10436" r="34488"/>
          <a:stretch/>
        </p:blipFill>
        <p:spPr>
          <a:xfrm>
            <a:off x="2566219" y="4575717"/>
            <a:ext cx="5466142" cy="1600731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37622D72-7464-E442-760B-B75B6ACC1B3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2647" t="10161" r="32958"/>
          <a:stretch/>
        </p:blipFill>
        <p:spPr>
          <a:xfrm>
            <a:off x="2566220" y="2316018"/>
            <a:ext cx="5554980" cy="1600731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B16BF712-EAA7-67F0-D037-486D5E2ECF6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49" t="30361" r="90572" b="3543"/>
          <a:stretch/>
        </p:blipFill>
        <p:spPr>
          <a:xfrm>
            <a:off x="540197" y="3200101"/>
            <a:ext cx="1368000" cy="1764000"/>
          </a:xfrm>
          <a:prstGeom prst="rect">
            <a:avLst/>
          </a:prstGeom>
          <a:ln w="0">
            <a:noFill/>
          </a:ln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B86B7A1C-E2FC-166F-BEF2-B2AFBA3BC8EE}"/>
              </a:ext>
            </a:extLst>
          </p:cNvPr>
          <p:cNvSpPr txBox="1"/>
          <p:nvPr/>
        </p:nvSpPr>
        <p:spPr>
          <a:xfrm>
            <a:off x="2465203" y="4303188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>
                <a:latin typeface="Baskerville" panose="02020502070401020303" pitchFamily="18" charset="0"/>
                <a:ea typeface="Baskerville" panose="02020502070401020303" pitchFamily="18" charset="0"/>
              </a:rPr>
              <a:t>GCN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B396C517-0497-3C40-82DF-4BB691B42B8F}"/>
              </a:ext>
            </a:extLst>
          </p:cNvPr>
          <p:cNvSpPr txBox="1"/>
          <p:nvPr/>
        </p:nvSpPr>
        <p:spPr>
          <a:xfrm>
            <a:off x="2466806" y="2018394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>
                <a:latin typeface="Baskerville" panose="02020502070401020303" pitchFamily="18" charset="0"/>
                <a:ea typeface="Baskerville" panose="02020502070401020303" pitchFamily="18" charset="0"/>
              </a:rPr>
              <a:t>CNN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C8901E7-A787-2426-66E4-41231BC18713}"/>
              </a:ext>
            </a:extLst>
          </p:cNvPr>
          <p:cNvSpPr txBox="1"/>
          <p:nvPr/>
        </p:nvSpPr>
        <p:spPr>
          <a:xfrm>
            <a:off x="640374" y="2610719"/>
            <a:ext cx="10212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>
                <a:latin typeface="Baskerville" panose="02020502070401020303" pitchFamily="18" charset="0"/>
                <a:ea typeface="Baskerville" panose="02020502070401020303" pitchFamily="18" charset="0"/>
              </a:rPr>
              <a:t>QUERY</a:t>
            </a:r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A02A8636-1F7B-AFC7-E4BF-007BF2B69C5D}"/>
              </a:ext>
            </a:extLst>
          </p:cNvPr>
          <p:cNvSpPr/>
          <p:nvPr/>
        </p:nvSpPr>
        <p:spPr>
          <a:xfrm>
            <a:off x="2566219" y="4634020"/>
            <a:ext cx="5554981" cy="1600731"/>
          </a:xfrm>
          <a:prstGeom prst="rect">
            <a:avLst/>
          </a:prstGeom>
          <a:noFill/>
          <a:ln w="25400">
            <a:solidFill>
              <a:schemeClr val="accent2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8" name="Rettangolo 17">
            <a:extLst>
              <a:ext uri="{FF2B5EF4-FFF2-40B4-BE49-F238E27FC236}">
                <a16:creationId xmlns:a16="http://schemas.microsoft.com/office/drawing/2014/main" id="{A3E8E51A-DC0E-2F62-3FDE-3BB978E5A7E3}"/>
              </a:ext>
            </a:extLst>
          </p:cNvPr>
          <p:cNvSpPr/>
          <p:nvPr/>
        </p:nvSpPr>
        <p:spPr>
          <a:xfrm>
            <a:off x="2566219" y="2373996"/>
            <a:ext cx="5554981" cy="1600731"/>
          </a:xfrm>
          <a:prstGeom prst="rect">
            <a:avLst/>
          </a:prstGeom>
          <a:noFill/>
          <a:ln w="25400">
            <a:solidFill>
              <a:schemeClr val="tx2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20" name="TextBox 5">
            <a:extLst>
              <a:ext uri="{FF2B5EF4-FFF2-40B4-BE49-F238E27FC236}">
                <a16:creationId xmlns:a16="http://schemas.microsoft.com/office/drawing/2014/main" id="{317E21BE-A708-A214-C59B-B6523FD2C487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778575C5-30F0-4F79-8E3A-191A03740816}"/>
              </a:ext>
            </a:extLst>
          </p:cNvPr>
          <p:cNvSpPr txBox="1"/>
          <p:nvPr/>
        </p:nvSpPr>
        <p:spPr>
          <a:xfrm>
            <a:off x="425398" y="822594"/>
            <a:ext cx="834091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it-IT" sz="1400" b="1" i="0" dirty="0" err="1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Retrieval</a:t>
            </a:r>
            <a:r>
              <a:rPr lang="it-IT" sz="1400" b="1" i="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Evaluation</a:t>
            </a:r>
            <a:r>
              <a:rPr lang="it-IT" sz="1400" b="0" i="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: Given a query scene </a:t>
            </a:r>
            <a:r>
              <a:rPr lang="it-IT" sz="1400" b="0" i="0" dirty="0" err="1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graph</a:t>
            </a:r>
            <a:r>
              <a:rPr lang="it-IT" sz="1400" b="0" i="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, </a:t>
            </a:r>
            <a:r>
              <a:rPr lang="it-IT" sz="1400" b="0" i="0" dirty="0" err="1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perform</a:t>
            </a:r>
            <a:r>
              <a:rPr lang="it-IT" sz="1400" b="0" i="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sz="1400" b="0" i="0" dirty="0" err="1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retrieval</a:t>
            </a:r>
            <a:r>
              <a:rPr lang="it-IT" sz="1400" b="0" i="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on the dataset to fetch </a:t>
            </a:r>
            <a:r>
              <a:rPr lang="it-IT" sz="1400" b="0" i="0" dirty="0" err="1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structurally</a:t>
            </a:r>
            <a:r>
              <a:rPr lang="it-IT" sz="1400" b="0" i="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sz="1400" b="0" i="0" dirty="0" err="1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similar</a:t>
            </a:r>
            <a:r>
              <a:rPr lang="it-IT" sz="1400" b="0" i="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sz="1400" b="0" i="0" dirty="0" err="1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graphs</a:t>
            </a:r>
            <a:r>
              <a:rPr lang="it-IT" sz="1400" b="0" i="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, </a:t>
            </a:r>
            <a:r>
              <a:rPr lang="it-IT" sz="1400" b="0" i="0" dirty="0" err="1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evaluating</a:t>
            </a:r>
            <a:r>
              <a:rPr lang="it-IT" sz="1400" b="0" i="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via standard </a:t>
            </a:r>
            <a:r>
              <a:rPr lang="it-IT" sz="1400" b="0" i="0" dirty="0" err="1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classification</a:t>
            </a:r>
            <a:r>
              <a:rPr lang="it-IT" sz="1400" b="0" i="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sz="1400" b="0" i="0" dirty="0" err="1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metrics</a:t>
            </a:r>
            <a:r>
              <a:rPr lang="it-IT" sz="1400" b="0" i="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(</a:t>
            </a:r>
            <a:r>
              <a:rPr lang="it-IT" sz="1400" b="0" i="0" dirty="0" err="1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Accuracy</a:t>
            </a:r>
            <a:r>
              <a:rPr lang="it-IT" sz="1400" b="0" i="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, Precision, Recall).</a:t>
            </a:r>
          </a:p>
        </p:txBody>
      </p:sp>
    </p:spTree>
    <p:extLst>
      <p:ext uri="{BB962C8B-B14F-4D97-AF65-F5344CB8AC3E}">
        <p14:creationId xmlns:p14="http://schemas.microsoft.com/office/powerpoint/2010/main" val="30408594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tangolo 5">
            <a:extLst>
              <a:ext uri="{FF2B5EF4-FFF2-40B4-BE49-F238E27FC236}">
                <a16:creationId xmlns:a16="http://schemas.microsoft.com/office/drawing/2014/main" id="{30074EC2-CA0A-6318-9EE1-84C6E4E40A3B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347235"/>
            <a:ext cx="82296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sz="3000" dirty="0">
                <a:latin typeface="Baskerville" panose="02020502070401020303" pitchFamily="18" charset="0"/>
                <a:ea typeface="Baskerville" panose="02020502070401020303" pitchFamily="18" charset="0"/>
              </a:rPr>
              <a:t>Metriche: </a:t>
            </a:r>
            <a:r>
              <a:rPr lang="it-IT"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S</a:t>
            </a:r>
            <a:r>
              <a:rPr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cene</a:t>
            </a:r>
            <a:r>
              <a:rPr sz="3000" dirty="0">
                <a:latin typeface="Baskerville" panose="02020502070401020303" pitchFamily="18" charset="0"/>
                <a:ea typeface="Baskerville" panose="02020502070401020303" pitchFamily="18" charset="0"/>
              </a:rPr>
              <a:t>-</a:t>
            </a:r>
            <a:r>
              <a:rPr lang="it-IT" sz="3000" dirty="0">
                <a:latin typeface="Baskerville" panose="02020502070401020303" pitchFamily="18" charset="0"/>
                <a:ea typeface="Baskerville" panose="02020502070401020303" pitchFamily="18" charset="0"/>
              </a:rPr>
              <a:t>T</a:t>
            </a:r>
            <a:r>
              <a:rPr sz="3000" dirty="0">
                <a:latin typeface="Baskerville" panose="02020502070401020303" pitchFamily="18" charset="0"/>
                <a:ea typeface="Baskerville" panose="02020502070401020303" pitchFamily="18" charset="0"/>
              </a:rPr>
              <a:t>o-</a:t>
            </a:r>
            <a:r>
              <a:rPr lang="it-IT"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S</a:t>
            </a:r>
            <a:r>
              <a:rPr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cene</a:t>
            </a:r>
            <a:r>
              <a:rPr sz="3000" dirty="0">
                <a:latin typeface="Baskerville" panose="02020502070401020303" pitchFamily="18" charset="0"/>
                <a:ea typeface="Baskerville" panose="02020502070401020303" pitchFamily="18" charset="0"/>
              </a:rPr>
              <a:t> retrieval con metric learning</a:t>
            </a: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96DB7037-0748-7255-B680-2A70C7336CA2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  <p:graphicFrame>
        <p:nvGraphicFramePr>
          <p:cNvPr id="5" name="Tabella 4">
            <a:extLst>
              <a:ext uri="{FF2B5EF4-FFF2-40B4-BE49-F238E27FC236}">
                <a16:creationId xmlns:a16="http://schemas.microsoft.com/office/drawing/2014/main" id="{9C70CD44-542C-44E5-B09C-AC9BD660FA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7339487"/>
              </p:ext>
            </p:extLst>
          </p:nvPr>
        </p:nvGraphicFramePr>
        <p:xfrm>
          <a:off x="1570516" y="2256906"/>
          <a:ext cx="6002967" cy="3869655"/>
        </p:xfrm>
        <a:graphic>
          <a:graphicData uri="http://schemas.openxmlformats.org/drawingml/2006/table">
            <a:tbl>
              <a:tblPr/>
              <a:tblGrid>
                <a:gridCol w="1606066">
                  <a:extLst>
                    <a:ext uri="{9D8B030D-6E8A-4147-A177-3AD203B41FA5}">
                      <a16:colId xmlns:a16="http://schemas.microsoft.com/office/drawing/2014/main" val="126001625"/>
                    </a:ext>
                  </a:extLst>
                </a:gridCol>
                <a:gridCol w="1574392">
                  <a:extLst>
                    <a:ext uri="{9D8B030D-6E8A-4147-A177-3AD203B41FA5}">
                      <a16:colId xmlns:a16="http://schemas.microsoft.com/office/drawing/2014/main" val="1070392771"/>
                    </a:ext>
                  </a:extLst>
                </a:gridCol>
                <a:gridCol w="1544324">
                  <a:extLst>
                    <a:ext uri="{9D8B030D-6E8A-4147-A177-3AD203B41FA5}">
                      <a16:colId xmlns:a16="http://schemas.microsoft.com/office/drawing/2014/main" val="654492443"/>
                    </a:ext>
                  </a:extLst>
                </a:gridCol>
                <a:gridCol w="1278185">
                  <a:extLst>
                    <a:ext uri="{9D8B030D-6E8A-4147-A177-3AD203B41FA5}">
                      <a16:colId xmlns:a16="http://schemas.microsoft.com/office/drawing/2014/main" val="802360710"/>
                    </a:ext>
                  </a:extLst>
                </a:gridCol>
              </a:tblGrid>
              <a:tr h="30656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b="1" kern="1200" dirty="0" err="1">
                          <a:solidFill>
                            <a:schemeClr val="bg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Metric</a:t>
                      </a:r>
                      <a:endParaRPr lang="it-IT" sz="1800" b="1" kern="1200" dirty="0">
                        <a:solidFill>
                          <a:schemeClr val="bg1"/>
                        </a:solidFill>
                        <a:latin typeface="Baskerville" panose="02020502070401020303" pitchFamily="18" charset="0"/>
                        <a:ea typeface="Baskerville" panose="02020502070401020303" pitchFamily="18" charset="0"/>
                        <a:cs typeface="+mn-cs"/>
                      </a:endParaRP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b="1" kern="1200" dirty="0">
                          <a:solidFill>
                            <a:schemeClr val="bg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Baseline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b="1" kern="1200" dirty="0">
                          <a:solidFill>
                            <a:schemeClr val="bg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GCN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b="1" kern="1200" dirty="0">
                          <a:solidFill>
                            <a:schemeClr val="bg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GINE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1458907"/>
                  </a:ext>
                </a:extLst>
              </a:tr>
              <a:tr h="317357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acc@1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b="1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0.6231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0.5966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0.4991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1218779"/>
                  </a:ext>
                </a:extLst>
              </a:tr>
              <a:tr h="317357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</a:pPr>
                      <a:r>
                        <a:rPr lang="it-IT" sz="1800" kern="1200" dirty="0" err="1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precision_macro</a:t>
                      </a:r>
                      <a:endParaRPr lang="it-IT" sz="1800" kern="1200" dirty="0">
                        <a:solidFill>
                          <a:schemeClr val="dk1"/>
                        </a:solidFill>
                        <a:latin typeface="Baskerville" panose="02020502070401020303" pitchFamily="18" charset="0"/>
                        <a:ea typeface="Baskerville" panose="02020502070401020303" pitchFamily="18" charset="0"/>
                        <a:cs typeface="+mn-cs"/>
                      </a:endParaRP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b="1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0.5855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0.5673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0.4877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1723023"/>
                  </a:ext>
                </a:extLst>
              </a:tr>
              <a:tr h="317357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recall_macro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b="1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0.5668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0.5661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0.4892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8428137"/>
                  </a:ext>
                </a:extLst>
              </a:tr>
              <a:tr h="389516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recall@1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b="1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0.6231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0.5966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0.4991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3515380"/>
                  </a:ext>
                </a:extLst>
              </a:tr>
              <a:tr h="317357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recall@5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b="1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0.8395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0.8204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0.7883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9420979"/>
                  </a:ext>
                </a:extLst>
              </a:tr>
              <a:tr h="317357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recall@10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b="1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0.8881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0.8791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0.8572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5471068"/>
                  </a:ext>
                </a:extLst>
              </a:tr>
              <a:tr h="317357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precision@1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b="1" kern="120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0.6231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0.5966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0.4991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631774"/>
                  </a:ext>
                </a:extLst>
              </a:tr>
              <a:tr h="317357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precision@5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b="1" kern="120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0.6195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0.6032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0.5002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7681104"/>
                  </a:ext>
                </a:extLst>
              </a:tr>
              <a:tr h="317357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precision@10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b="1" kern="120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0.6152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0.6046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0.4978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5004776"/>
                  </a:ext>
                </a:extLst>
              </a:tr>
              <a:tr h="317357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</a:pPr>
                      <a:r>
                        <a:rPr lang="it-IT" sz="1800" kern="1200" dirty="0" err="1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mrr</a:t>
                      </a:r>
                      <a:endParaRPr lang="it-IT" sz="1800" kern="1200" dirty="0">
                        <a:solidFill>
                          <a:schemeClr val="dk1"/>
                        </a:solidFill>
                        <a:latin typeface="Baskerville" panose="02020502070401020303" pitchFamily="18" charset="0"/>
                        <a:ea typeface="Baskerville" panose="02020502070401020303" pitchFamily="18" charset="0"/>
                        <a:cs typeface="+mn-cs"/>
                      </a:endParaRP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b="1" kern="120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0.7163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0.6949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621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6660232"/>
                  </a:ext>
                </a:extLst>
              </a:tr>
              <a:tr h="317357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</a:pPr>
                      <a:r>
                        <a:rPr lang="it-IT" sz="1800" kern="1200" dirty="0" err="1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map</a:t>
                      </a:r>
                      <a:endParaRPr lang="it-IT" sz="1800" kern="1200" dirty="0">
                        <a:solidFill>
                          <a:schemeClr val="dk1"/>
                        </a:solidFill>
                        <a:latin typeface="Baskerville" panose="02020502070401020303" pitchFamily="18" charset="0"/>
                        <a:ea typeface="Baskerville" panose="02020502070401020303" pitchFamily="18" charset="0"/>
                        <a:cs typeface="+mn-cs"/>
                      </a:endParaRP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b="1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0.68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0.6631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0.5778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152118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tangolo 9">
            <a:extLst>
              <a:ext uri="{FF2B5EF4-FFF2-40B4-BE49-F238E27FC236}">
                <a16:creationId xmlns:a16="http://schemas.microsoft.com/office/drawing/2014/main" id="{5714BD5A-94AF-DA58-BFC6-BE92236FECC5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220136"/>
            <a:ext cx="822960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dirty="0">
                <a:latin typeface="Baskerville" panose="02020502070401020303" pitchFamily="18" charset="0"/>
                <a:ea typeface="Baskerville" panose="02020502070401020303" pitchFamily="18" charset="0"/>
              </a:rPr>
              <a:t>GNN </a:t>
            </a:r>
            <a:r>
              <a:rPr dirty="0" err="1">
                <a:latin typeface="Baskerville" panose="02020502070401020303" pitchFamily="18" charset="0"/>
                <a:ea typeface="Baskerville" panose="02020502070401020303" pitchFamily="18" charset="0"/>
              </a:rPr>
              <a:t>degrada</a:t>
            </a:r>
            <a:r>
              <a:rPr dirty="0"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dirty="0" err="1">
                <a:latin typeface="Baskerville" panose="02020502070401020303" pitchFamily="18" charset="0"/>
                <a:ea typeface="Baskerville" panose="02020502070401020303" pitchFamily="18" charset="0"/>
              </a:rPr>
              <a:t>gradualmente</a:t>
            </a:r>
            <a:r>
              <a:rPr dirty="0"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dirty="0" err="1">
                <a:latin typeface="Baskerville" panose="02020502070401020303" pitchFamily="18" charset="0"/>
                <a:ea typeface="Baskerville" panose="02020502070401020303" pitchFamily="18" charset="0"/>
              </a:rPr>
              <a:t>anche</a:t>
            </a:r>
            <a:r>
              <a:rPr dirty="0">
                <a:latin typeface="Baskerville" panose="02020502070401020303" pitchFamily="18" charset="0"/>
                <a:ea typeface="Baskerville" panose="02020502070401020303" pitchFamily="18" charset="0"/>
              </a:rPr>
              <a:t> con il 70% </a:t>
            </a:r>
            <a:r>
              <a:rPr dirty="0" err="1">
                <a:latin typeface="Baskerville" panose="02020502070401020303" pitchFamily="18" charset="0"/>
                <a:ea typeface="Baskerville" panose="02020502070401020303" pitchFamily="18" charset="0"/>
              </a:rPr>
              <a:t>dei</a:t>
            </a:r>
            <a:r>
              <a:rPr dirty="0">
                <a:latin typeface="Baskerville" panose="02020502070401020303" pitchFamily="18" charset="0"/>
                <a:ea typeface="Baskerville" panose="02020502070401020303" pitchFamily="18" charset="0"/>
              </a:rPr>
              <a:t> nodi </a:t>
            </a:r>
            <a:r>
              <a:rPr dirty="0" err="1">
                <a:latin typeface="Baskerville" panose="02020502070401020303" pitchFamily="18" charset="0"/>
                <a:ea typeface="Baskerville" panose="02020502070401020303" pitchFamily="18" charset="0"/>
              </a:rPr>
              <a:t>rimossi</a:t>
            </a:r>
            <a:endParaRPr dirty="0"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1099160"/>
            <a:ext cx="4254113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009688"/>
                </a:solidFill>
              </a:defRPr>
            </a:pPr>
            <a:r>
              <a:rPr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Extra Objective: </a:t>
            </a:r>
            <a:r>
              <a:rPr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robustezza</a:t>
            </a:r>
            <a:r>
              <a:rPr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alle </a:t>
            </a:r>
            <a:r>
              <a:rPr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perturbazioni</a:t>
            </a:r>
            <a:r>
              <a:rPr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strutturali</a:t>
            </a:r>
            <a:endParaRPr dirty="0">
              <a:solidFill>
                <a:schemeClr val="accent2">
                  <a:lumMod val="40000"/>
                  <a:lumOff val="60000"/>
                </a:schemeClr>
              </a:solidFill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1BD11E3E-FD66-0E82-020E-6DA8C331396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2875" r="50000"/>
          <a:stretch/>
        </p:blipFill>
        <p:spPr>
          <a:xfrm>
            <a:off x="897648" y="2025219"/>
            <a:ext cx="7348703" cy="4570624"/>
          </a:xfrm>
          <a:prstGeom prst="rect">
            <a:avLst/>
          </a:prstGeom>
        </p:spPr>
      </p:pic>
      <p:sp>
        <p:nvSpPr>
          <p:cNvPr id="11" name="TextBox 5">
            <a:extLst>
              <a:ext uri="{FF2B5EF4-FFF2-40B4-BE49-F238E27FC236}">
                <a16:creationId xmlns:a16="http://schemas.microsoft.com/office/drawing/2014/main" id="{3BE01316-36EF-0672-8873-1260D64BB4F6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0FAABC04-C21D-B1AD-F4A9-E2693B7337E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33235"/>
          <a:stretch/>
        </p:blipFill>
        <p:spPr>
          <a:xfrm>
            <a:off x="188390" y="1710133"/>
            <a:ext cx="8797916" cy="5065490"/>
          </a:xfrm>
          <a:prstGeom prst="rect">
            <a:avLst/>
          </a:prstGeom>
        </p:spPr>
      </p:pic>
      <p:sp>
        <p:nvSpPr>
          <p:cNvPr id="10" name="Rettangolo 9">
            <a:extLst>
              <a:ext uri="{FF2B5EF4-FFF2-40B4-BE49-F238E27FC236}">
                <a16:creationId xmlns:a16="http://schemas.microsoft.com/office/drawing/2014/main" id="{5714BD5A-94AF-DA58-BFC6-BE92236FECC5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280247"/>
            <a:ext cx="82296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dirty="0">
                <a:latin typeface="Baskerville" panose="02020502070401020303" pitchFamily="18" charset="0"/>
                <a:ea typeface="Baskerville" panose="02020502070401020303" pitchFamily="18" charset="0"/>
              </a:rPr>
              <a:t>GRADCAM++</a:t>
            </a:r>
            <a:endParaRPr dirty="0"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855067"/>
            <a:ext cx="472770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009688"/>
                </a:solidFill>
              </a:defRPr>
            </a:pPr>
            <a:r>
              <a:rPr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Extra Objective: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Visualize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and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interpret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which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edges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/relations </a:t>
            </a:r>
          </a:p>
          <a:p>
            <a:pPr>
              <a:defRPr sz="1400">
                <a:solidFill>
                  <a:srgbClr val="009688"/>
                </a:solidFill>
              </a:defRPr>
            </a:pP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act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as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critical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focal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points for the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model's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similarity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metric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.</a:t>
            </a:r>
            <a:endParaRPr dirty="0">
              <a:solidFill>
                <a:schemeClr val="accent2">
                  <a:lumMod val="40000"/>
                  <a:lumOff val="60000"/>
                </a:schemeClr>
              </a:solidFill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3BE01316-36EF-0672-8873-1260D64BB4F6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</p:spTree>
    <p:extLst>
      <p:ext uri="{BB962C8B-B14F-4D97-AF65-F5344CB8AC3E}">
        <p14:creationId xmlns:p14="http://schemas.microsoft.com/office/powerpoint/2010/main" val="32415283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3475476C-01EF-2801-B13A-B3968D3C067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887" r="48372" b="63837"/>
          <a:stretch/>
        </p:blipFill>
        <p:spPr>
          <a:xfrm>
            <a:off x="228600" y="1685977"/>
            <a:ext cx="8686800" cy="4817345"/>
          </a:xfrm>
          <a:prstGeom prst="rect">
            <a:avLst/>
          </a:prstGeom>
        </p:spPr>
      </p:pic>
      <p:sp>
        <p:nvSpPr>
          <p:cNvPr id="10" name="Rettangolo 9">
            <a:extLst>
              <a:ext uri="{FF2B5EF4-FFF2-40B4-BE49-F238E27FC236}">
                <a16:creationId xmlns:a16="http://schemas.microsoft.com/office/drawing/2014/main" id="{5714BD5A-94AF-DA58-BFC6-BE92236FECC5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280247"/>
            <a:ext cx="82296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dirty="0">
                <a:latin typeface="Baskerville" panose="02020502070401020303" pitchFamily="18" charset="0"/>
                <a:ea typeface="Baskerville" panose="02020502070401020303" pitchFamily="18" charset="0"/>
              </a:rPr>
              <a:t>GRAPHGRADCAM</a:t>
            </a:r>
            <a:endParaRPr dirty="0"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855067"/>
            <a:ext cx="472770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009688"/>
                </a:solidFill>
              </a:defRPr>
            </a:pPr>
            <a:r>
              <a:rPr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Extra Objective: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Visualize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and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interpret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which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edges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/relations </a:t>
            </a:r>
          </a:p>
          <a:p>
            <a:pPr>
              <a:defRPr sz="1400">
                <a:solidFill>
                  <a:srgbClr val="009688"/>
                </a:solidFill>
              </a:defRPr>
            </a:pP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act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as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critical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focal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points for the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model's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similarity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metric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.</a:t>
            </a:r>
            <a:endParaRPr dirty="0">
              <a:solidFill>
                <a:schemeClr val="accent2">
                  <a:lumMod val="40000"/>
                  <a:lumOff val="60000"/>
                </a:schemeClr>
              </a:solidFill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3BE01316-36EF-0672-8873-1260D64BB4F6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</p:spTree>
    <p:extLst>
      <p:ext uri="{BB962C8B-B14F-4D97-AF65-F5344CB8AC3E}">
        <p14:creationId xmlns:p14="http://schemas.microsoft.com/office/powerpoint/2010/main" val="13539060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tangolo 9">
            <a:extLst>
              <a:ext uri="{FF2B5EF4-FFF2-40B4-BE49-F238E27FC236}">
                <a16:creationId xmlns:a16="http://schemas.microsoft.com/office/drawing/2014/main" id="{5714BD5A-94AF-DA58-BFC6-BE92236FECC5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280247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Focal</a:t>
            </a:r>
            <a:r>
              <a:rPr lang="it-IT" sz="3000" dirty="0">
                <a:latin typeface="Baskerville" panose="02020502070401020303" pitchFamily="18" charset="0"/>
                <a:ea typeface="Baskerville" panose="02020502070401020303" pitchFamily="18" charset="0"/>
              </a:rPr>
              <a:t> Point Analysis — Ranking Disruption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55067"/>
            <a:ext cx="472770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009688"/>
                </a:solidFill>
              </a:defRPr>
            </a:pPr>
            <a:r>
              <a:rPr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Extra Objective: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Visualize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and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interpret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which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edges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/relations </a:t>
            </a:r>
          </a:p>
          <a:p>
            <a:pPr>
              <a:defRPr sz="1400">
                <a:solidFill>
                  <a:srgbClr val="009688"/>
                </a:solidFill>
              </a:defRPr>
            </a:pP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act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as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critical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focal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points for the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model's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similarity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metric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.</a:t>
            </a:r>
            <a:endParaRPr dirty="0">
              <a:solidFill>
                <a:schemeClr val="accent2">
                  <a:lumMod val="40000"/>
                  <a:lumOff val="60000"/>
                </a:schemeClr>
              </a:solidFill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3BE01316-36EF-0672-8873-1260D64BB4F6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B5FFAD51-F4FE-92D7-019D-B0DED7CF3257}"/>
              </a:ext>
            </a:extLst>
          </p:cNvPr>
          <p:cNvSpPr txBox="1"/>
          <p:nvPr/>
        </p:nvSpPr>
        <p:spPr>
          <a:xfrm>
            <a:off x="3835804" y="4007067"/>
            <a:ext cx="1472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Rifare grafico </a:t>
            </a:r>
          </a:p>
        </p:txBody>
      </p:sp>
    </p:spTree>
    <p:extLst>
      <p:ext uri="{BB962C8B-B14F-4D97-AF65-F5344CB8AC3E}">
        <p14:creationId xmlns:p14="http://schemas.microsoft.com/office/powerpoint/2010/main" val="38055703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tangolo 9">
            <a:extLst>
              <a:ext uri="{FF2B5EF4-FFF2-40B4-BE49-F238E27FC236}">
                <a16:creationId xmlns:a16="http://schemas.microsoft.com/office/drawing/2014/main" id="{5714BD5A-94AF-DA58-BFC6-BE92236FECC5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220136"/>
            <a:ext cx="822960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dirty="0">
                <a:latin typeface="Baskerville" panose="02020502070401020303" pitchFamily="18" charset="0"/>
                <a:ea typeface="Baskerville" panose="02020502070401020303" pitchFamily="18" charset="0"/>
              </a:rPr>
              <a:t>GNN </a:t>
            </a:r>
            <a:r>
              <a:rPr dirty="0" err="1">
                <a:latin typeface="Baskerville" panose="02020502070401020303" pitchFamily="18" charset="0"/>
                <a:ea typeface="Baskerville" panose="02020502070401020303" pitchFamily="18" charset="0"/>
              </a:rPr>
              <a:t>degrada</a:t>
            </a:r>
            <a:r>
              <a:rPr dirty="0"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dirty="0" err="1">
                <a:latin typeface="Baskerville" panose="02020502070401020303" pitchFamily="18" charset="0"/>
                <a:ea typeface="Baskerville" panose="02020502070401020303" pitchFamily="18" charset="0"/>
              </a:rPr>
              <a:t>gradualmente</a:t>
            </a:r>
            <a:r>
              <a:rPr dirty="0"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dirty="0" err="1">
                <a:latin typeface="Baskerville" panose="02020502070401020303" pitchFamily="18" charset="0"/>
                <a:ea typeface="Baskerville" panose="02020502070401020303" pitchFamily="18" charset="0"/>
              </a:rPr>
              <a:t>anche</a:t>
            </a:r>
            <a:r>
              <a:rPr dirty="0">
                <a:latin typeface="Baskerville" panose="02020502070401020303" pitchFamily="18" charset="0"/>
                <a:ea typeface="Baskerville" panose="02020502070401020303" pitchFamily="18" charset="0"/>
              </a:rPr>
              <a:t> con il 70% </a:t>
            </a:r>
            <a:r>
              <a:rPr dirty="0" err="1">
                <a:latin typeface="Baskerville" panose="02020502070401020303" pitchFamily="18" charset="0"/>
                <a:ea typeface="Baskerville" panose="02020502070401020303" pitchFamily="18" charset="0"/>
              </a:rPr>
              <a:t>dei</a:t>
            </a:r>
            <a:r>
              <a:rPr dirty="0">
                <a:latin typeface="Baskerville" panose="02020502070401020303" pitchFamily="18" charset="0"/>
                <a:ea typeface="Baskerville" panose="02020502070401020303" pitchFamily="18" charset="0"/>
              </a:rPr>
              <a:t> nodi </a:t>
            </a:r>
            <a:r>
              <a:rPr dirty="0" err="1">
                <a:latin typeface="Baskerville" panose="02020502070401020303" pitchFamily="18" charset="0"/>
                <a:ea typeface="Baskerville" panose="02020502070401020303" pitchFamily="18" charset="0"/>
              </a:rPr>
              <a:t>rimossi</a:t>
            </a:r>
            <a:endParaRPr dirty="0"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1099160"/>
            <a:ext cx="4254113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009688"/>
                </a:solidFill>
              </a:defRPr>
            </a:pPr>
            <a:r>
              <a:rPr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Extra Objective: </a:t>
            </a:r>
            <a:r>
              <a:rPr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robustezza</a:t>
            </a:r>
            <a:r>
              <a:rPr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alle </a:t>
            </a:r>
            <a:r>
              <a:rPr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perturbazioni</a:t>
            </a:r>
            <a:r>
              <a:rPr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strutturali</a:t>
            </a:r>
            <a:endParaRPr dirty="0">
              <a:solidFill>
                <a:schemeClr val="accent2">
                  <a:lumMod val="40000"/>
                  <a:lumOff val="60000"/>
                </a:schemeClr>
              </a:solidFill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1BD11E3E-FD66-0E82-020E-6DA8C331396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0000" t="13373"/>
          <a:stretch/>
        </p:blipFill>
        <p:spPr>
          <a:xfrm>
            <a:off x="979161" y="1977390"/>
            <a:ext cx="7464303" cy="4615934"/>
          </a:xfrm>
          <a:prstGeom prst="rect">
            <a:avLst/>
          </a:prstGeom>
        </p:spPr>
      </p:pic>
      <p:sp>
        <p:nvSpPr>
          <p:cNvPr id="11" name="TextBox 5">
            <a:extLst>
              <a:ext uri="{FF2B5EF4-FFF2-40B4-BE49-F238E27FC236}">
                <a16:creationId xmlns:a16="http://schemas.microsoft.com/office/drawing/2014/main" id="{3BE01316-36EF-0672-8873-1260D64BB4F6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</p:spTree>
    <p:extLst>
      <p:ext uri="{BB962C8B-B14F-4D97-AF65-F5344CB8AC3E}">
        <p14:creationId xmlns:p14="http://schemas.microsoft.com/office/powerpoint/2010/main" val="10961988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tangolo 9">
            <a:extLst>
              <a:ext uri="{FF2B5EF4-FFF2-40B4-BE49-F238E27FC236}">
                <a16:creationId xmlns:a16="http://schemas.microsoft.com/office/drawing/2014/main" id="{5714BD5A-94AF-DA58-BFC6-BE92236FECC5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280247"/>
            <a:ext cx="82296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dirty="0">
                <a:latin typeface="Baskerville" panose="02020502070401020303" pitchFamily="18" charset="0"/>
                <a:ea typeface="Baskerville" panose="02020502070401020303" pitchFamily="18" charset="0"/>
              </a:rPr>
              <a:t>GRAPHGRADCAM</a:t>
            </a:r>
            <a:endParaRPr dirty="0"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855067"/>
            <a:ext cx="472770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009688"/>
                </a:solidFill>
              </a:defRPr>
            </a:pPr>
            <a:r>
              <a:rPr dirty="0">
                <a:solidFill>
                  <a:schemeClr val="tx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Extra Objective: </a:t>
            </a:r>
            <a:r>
              <a:rPr lang="it-IT" dirty="0" err="1">
                <a:solidFill>
                  <a:schemeClr val="tx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Visualize</a:t>
            </a:r>
            <a:r>
              <a:rPr lang="it-IT" dirty="0">
                <a:solidFill>
                  <a:schemeClr val="tx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and </a:t>
            </a:r>
            <a:r>
              <a:rPr lang="it-IT" dirty="0" err="1">
                <a:solidFill>
                  <a:schemeClr val="tx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interpret</a:t>
            </a:r>
            <a:r>
              <a:rPr lang="it-IT" dirty="0">
                <a:solidFill>
                  <a:schemeClr val="tx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tx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which</a:t>
            </a:r>
            <a:r>
              <a:rPr lang="it-IT" dirty="0">
                <a:solidFill>
                  <a:schemeClr val="tx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tx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edges</a:t>
            </a:r>
            <a:r>
              <a:rPr lang="it-IT" dirty="0">
                <a:solidFill>
                  <a:schemeClr val="tx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/relations </a:t>
            </a:r>
          </a:p>
          <a:p>
            <a:pPr>
              <a:defRPr sz="1400">
                <a:solidFill>
                  <a:srgbClr val="009688"/>
                </a:solidFill>
              </a:defRPr>
            </a:pPr>
            <a:r>
              <a:rPr lang="it-IT" dirty="0">
                <a:solidFill>
                  <a:schemeClr val="tx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act </a:t>
            </a:r>
            <a:r>
              <a:rPr lang="it-IT" dirty="0" err="1">
                <a:solidFill>
                  <a:schemeClr val="tx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as</a:t>
            </a:r>
            <a:r>
              <a:rPr lang="it-IT" dirty="0">
                <a:solidFill>
                  <a:schemeClr val="tx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tx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critical</a:t>
            </a:r>
            <a:r>
              <a:rPr lang="it-IT" dirty="0">
                <a:solidFill>
                  <a:schemeClr val="tx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tx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focal</a:t>
            </a:r>
            <a:r>
              <a:rPr lang="it-IT" dirty="0">
                <a:solidFill>
                  <a:schemeClr val="tx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points for the </a:t>
            </a:r>
            <a:r>
              <a:rPr lang="it-IT" dirty="0" err="1">
                <a:solidFill>
                  <a:schemeClr val="tx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model's</a:t>
            </a:r>
            <a:r>
              <a:rPr lang="it-IT" dirty="0">
                <a:solidFill>
                  <a:schemeClr val="tx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tx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similarity</a:t>
            </a:r>
            <a:r>
              <a:rPr lang="it-IT" dirty="0">
                <a:solidFill>
                  <a:schemeClr val="tx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tx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metric</a:t>
            </a:r>
            <a:r>
              <a:rPr lang="it-IT" dirty="0">
                <a:solidFill>
                  <a:schemeClr val="tx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.</a:t>
            </a:r>
            <a:endParaRPr dirty="0">
              <a:solidFill>
                <a:schemeClr val="tx2">
                  <a:lumMod val="40000"/>
                  <a:lumOff val="60000"/>
                </a:schemeClr>
              </a:solidFill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3BE01316-36EF-0672-8873-1260D64BB4F6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3475476C-01EF-2801-B13A-B3968D3C067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2674" t="3697" b="63837"/>
          <a:stretch/>
        </p:blipFill>
        <p:spPr>
          <a:xfrm>
            <a:off x="1026419" y="2009743"/>
            <a:ext cx="7091161" cy="4185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13081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58361D9F-C47C-3A0A-914F-0A23B95D56B5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355223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dirty="0"/>
              <a:t>[Backup Q&amp;A] </a:t>
            </a:r>
            <a:r>
              <a:rPr dirty="0" err="1"/>
              <a:t>Robustezza</a:t>
            </a:r>
            <a:r>
              <a:rPr dirty="0"/>
              <a:t> </a:t>
            </a:r>
            <a:r>
              <a:rPr dirty="0" err="1"/>
              <a:t>completa</a:t>
            </a:r>
            <a:r>
              <a:rPr dirty="0"/>
              <a:t> per </a:t>
            </a:r>
            <a:r>
              <a:rPr dirty="0" err="1"/>
              <a:t>livello</a:t>
            </a:r>
            <a:r>
              <a:rPr dirty="0"/>
              <a:t> di </a:t>
            </a:r>
            <a:r>
              <a:rPr dirty="0" err="1"/>
              <a:t>perturbazione</a:t>
            </a:r>
            <a:endParaRPr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3499120"/>
              </p:ext>
            </p:extLst>
          </p:nvPr>
        </p:nvGraphicFramePr>
        <p:xfrm>
          <a:off x="1280160" y="2762084"/>
          <a:ext cx="658368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66344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/>
                        <a:t>drop%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/>
                        <a:t>GCN acc@1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/>
                        <a:t>GINE acc@1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GCN mAP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GINE mAP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t>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b="1" dirty="0"/>
                        <a:t>59.7%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t>49.9%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b="1" dirty="0"/>
                        <a:t>65.9%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t>57.8%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t>30%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b="1" dirty="0"/>
                        <a:t>55.9%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t>45.0%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b="1" dirty="0"/>
                        <a:t>62.4%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t>53.2%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b="1" dirty="0"/>
                        <a:t>51.0%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t>41.5%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b="1" dirty="0"/>
                        <a:t>58.2%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t>50.5%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t>70%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b="1" dirty="0"/>
                        <a:t>45.1%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t>35.8%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b="1" dirty="0"/>
                        <a:t>53.0%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dirty="0"/>
                        <a:t>45.5%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FE73CD5-BC28-C74F-A3F8-3F58D159018E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1348</TotalTime>
  <Words>673</Words>
  <Application>Microsoft Macintosh PowerPoint</Application>
  <PresentationFormat>Presentazione su schermo (4:3)</PresentationFormat>
  <Paragraphs>175</Paragraphs>
  <Slides>15</Slides>
  <Notes>11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15</vt:i4>
      </vt:variant>
    </vt:vector>
  </HeadingPairs>
  <TitlesOfParts>
    <vt:vector size="23" baseType="lpstr">
      <vt:lpstr>-webkit-standard</vt:lpstr>
      <vt:lpstr>Aptos</vt:lpstr>
      <vt:lpstr>Arial</vt:lpstr>
      <vt:lpstr>Baskerville</vt:lpstr>
      <vt:lpstr>Calibri</vt:lpstr>
      <vt:lpstr>Cambria Math</vt:lpstr>
      <vt:lpstr>Times New Roman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SALVATORE MARIO CAROTA</cp:lastModifiedBy>
  <cp:revision>5</cp:revision>
  <dcterms:created xsi:type="dcterms:W3CDTF">2013-01-27T09:14:16Z</dcterms:created>
  <dcterms:modified xsi:type="dcterms:W3CDTF">2026-06-19T09:17:38Z</dcterms:modified>
  <cp:category/>
</cp:coreProperties>
</file>